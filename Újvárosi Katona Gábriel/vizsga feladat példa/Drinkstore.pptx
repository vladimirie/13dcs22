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  <p:sldMasterId id="2147483652" r:id="rId2"/>
    <p:sldMasterId id="2147483656" r:id="rId3"/>
    <p:sldMasterId id="2147483658" r:id="rId4"/>
    <p:sldMasterId id="2147483660" r:id="rId5"/>
    <p:sldMasterId id="2147483662" r:id="rId6"/>
    <p:sldMasterId id="2147483664" r:id="rId7"/>
    <p:sldMasterId id="2147483666" r:id="rId8"/>
    <p:sldMasterId id="2147483668" r:id="rId9"/>
    <p:sldMasterId id="2147483751" r:id="rId10"/>
  </p:sldMasterIdLst>
  <p:notesMasterIdLst>
    <p:notesMasterId r:id="rId27"/>
  </p:notesMasterIdLst>
  <p:sldIdLst>
    <p:sldId id="256" r:id="rId11"/>
    <p:sldId id="294" r:id="rId12"/>
    <p:sldId id="292" r:id="rId13"/>
    <p:sldId id="293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7" r:id="rId22"/>
    <p:sldId id="268" r:id="rId23"/>
    <p:sldId id="269" r:id="rId24"/>
    <p:sldId id="270" r:id="rId25"/>
    <p:sldId id="271" r:id="rId26"/>
  </p:sldIdLst>
  <p:sldSz cx="9144000" cy="6858000" type="screen4x3"/>
  <p:notesSz cx="7559675" cy="10691813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807" autoAdjust="0"/>
  </p:normalViewPr>
  <p:slideViewPr>
    <p:cSldViewPr snapToGrid="0">
      <p:cViewPr varScale="1">
        <p:scale>
          <a:sx n="107" d="100"/>
          <a:sy n="107" d="100"/>
        </p:scale>
        <p:origin x="9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B04A7-1B04-46CF-8F2C-2C1172E475E7}" type="datetimeFigureOut">
              <a:rPr lang="hu-HU" smtClean="0"/>
              <a:t>2025. 05. 14.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50C6E2-CB2E-4534-92CB-7F7E842F076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0442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50C6E2-CB2E-4534-92CB-7F7E842F076E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7151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50C6E2-CB2E-4534-92CB-7F7E842F076E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8179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50C6E2-CB2E-4534-92CB-7F7E842F076E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3097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50C6E2-CB2E-4534-92CB-7F7E842F076E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9005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8E8B8BF-2406-42A1-81FD-4AC28234306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46C5C36-F9DE-441C-A5BE-39D76BB04E9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B2BBC74D-BFF0-43D1-83BC-714E47779EC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072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hu-H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1443600" y="2015640"/>
            <a:ext cx="3206160" cy="344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hu-H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810320" y="2015640"/>
            <a:ext cx="3206160" cy="344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hu-H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81041537-0FB9-44AC-B619-6E11E3CDC95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CB26AFCA-421F-4167-9E93-CE8FE66266C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072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hu-H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844D5F78-5F51-40E0-825D-096E9AE1771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51A363E5-C41E-4512-A14A-FF8F956B2A8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17580E40-124C-4826-B78B-A11262BDCBC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98D9661E-0866-473E-B4A6-53505B31390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Footer</a:t>
            </a:r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27BAF-E062-4505-9726-73EA7C882E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2630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277D0E1-9EBE-4358-AE0E-1F3F6A69E078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7697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277D0E1-9EBE-4358-AE0E-1F3F6A69E078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9067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277D0E1-9EBE-4358-AE0E-1F3F6A69E078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34434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277D0E1-9EBE-4358-AE0E-1F3F6A69E078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50708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277D0E1-9EBE-4358-AE0E-1F3F6A69E078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4773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277D0E1-9EBE-4358-AE0E-1F3F6A69E078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8568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277D0E1-9EBE-4358-AE0E-1F3F6A69E078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5725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277D0E1-9EBE-4358-AE0E-1F3F6A69E078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4691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AE795F5-75E8-4F1C-BD47-A55C2A3B6E85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32535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AE795F5-75E8-4F1C-BD47-A55C2A3B6E85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56219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AE795F5-75E8-4F1C-BD47-A55C2A3B6E85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61545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AE795F5-75E8-4F1C-BD47-A55C2A3B6E85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74661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AE795F5-75E8-4F1C-BD47-A55C2A3B6E85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42541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277D0E1-9EBE-4358-AE0E-1F3F6A69E078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47607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277D0E1-9EBE-4358-AE0E-1F3F6A69E078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9693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theme" Target="../theme/theme10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r="5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9"/>
          <p:cNvSpPr/>
          <p:nvPr/>
        </p:nvSpPr>
        <p:spPr>
          <a:xfrm>
            <a:off x="0" y="2015640"/>
            <a:ext cx="9143280" cy="407880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Picture 11"/>
          <p:cNvPicPr/>
          <p:nvPr/>
        </p:nvPicPr>
        <p:blipFill>
          <a:blip r:embed="rId3"/>
          <a:srcRect l="12498" t="1526" r="12498" b="-1526"/>
          <a:stretch/>
        </p:blipFill>
        <p:spPr>
          <a:xfrm>
            <a:off x="0" y="6095160"/>
            <a:ext cx="9143280" cy="774000"/>
          </a:xfrm>
          <a:prstGeom prst="rect">
            <a:avLst/>
          </a:prstGeom>
          <a:ln w="0">
            <a:noFill/>
          </a:ln>
        </p:spPr>
      </p:pic>
      <p:cxnSp>
        <p:nvCxnSpPr>
          <p:cNvPr id="13" name="Straight Connector 12"/>
          <p:cNvCxnSpPr/>
          <p:nvPr/>
        </p:nvCxnSpPr>
        <p:spPr>
          <a:xfrm>
            <a:off x="0" y="6100920"/>
            <a:ext cx="9144720" cy="72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cxnSp>
        <p:nvCxnSpPr>
          <p:cNvPr id="14" name="Straight Connector 32"/>
          <p:cNvCxnSpPr/>
          <p:nvPr/>
        </p:nvCxnSpPr>
        <p:spPr>
          <a:xfrm>
            <a:off x="1443240" y="1846800"/>
            <a:ext cx="6572160" cy="72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  <p:sp>
        <p:nvSpPr>
          <p:cNvPr id="15" name="PlaceHolder 1"/>
          <p:cNvSpPr>
            <a:spLocks noGrp="1"/>
          </p:cNvSpPr>
          <p:nvPr>
            <p:ph type="ftr" idx="4"/>
          </p:nvPr>
        </p:nvSpPr>
        <p:spPr>
          <a:xfrm>
            <a:off x="1443600" y="329400"/>
            <a:ext cx="403344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&lt;</a:t>
            </a:r>
            <a:r>
              <a:rPr lang="hu-HU" sz="1400" b="0" strike="noStrike" spc="-1" dirty="0" err="1">
                <a:solidFill>
                  <a:srgbClr val="000000"/>
                </a:solidFill>
                <a:latin typeface="Times New Roman"/>
              </a:rPr>
              <a:t>footer</a:t>
            </a: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&gt;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sldNum" idx="5"/>
          </p:nvPr>
        </p:nvSpPr>
        <p:spPr>
          <a:xfrm>
            <a:off x="487800" y="798840"/>
            <a:ext cx="794880" cy="50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2800" b="0" strike="noStrike" spc="-1">
                <a:solidFill>
                  <a:schemeClr val="accent1"/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AE795F5-75E8-4F1C-BD47-A55C2A3B6E85}" type="slidenum">
              <a:rPr lang="hu-HU" sz="2800" b="0" strike="noStrike" spc="-1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6"/>
          </p:nvPr>
        </p:nvSpPr>
        <p:spPr>
          <a:xfrm>
            <a:off x="5646600" y="330480"/>
            <a:ext cx="236772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hu-H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r="5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"/>
          <p:cNvSpPr/>
          <p:nvPr/>
        </p:nvSpPr>
        <p:spPr>
          <a:xfrm>
            <a:off x="0" y="2015640"/>
            <a:ext cx="9143280" cy="407880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11"/>
          <p:cNvPicPr/>
          <p:nvPr/>
        </p:nvPicPr>
        <p:blipFill>
          <a:blip r:embed="rId3"/>
          <a:srcRect l="12498" t="1526" r="12498" b="-1526"/>
          <a:stretch/>
        </p:blipFill>
        <p:spPr>
          <a:xfrm>
            <a:off x="0" y="6095160"/>
            <a:ext cx="9143280" cy="774000"/>
          </a:xfrm>
          <a:prstGeom prst="rect">
            <a:avLst/>
          </a:prstGeom>
          <a:ln w="0">
            <a:noFill/>
          </a:ln>
        </p:spPr>
      </p:pic>
      <p:cxnSp>
        <p:nvCxnSpPr>
          <p:cNvPr id="20" name="Straight Connector 12"/>
          <p:cNvCxnSpPr/>
          <p:nvPr/>
        </p:nvCxnSpPr>
        <p:spPr>
          <a:xfrm>
            <a:off x="0" y="6100920"/>
            <a:ext cx="9144720" cy="72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cxnSp>
        <p:nvCxnSpPr>
          <p:cNvPr id="21" name="Straight Connector 14"/>
          <p:cNvCxnSpPr/>
          <p:nvPr/>
        </p:nvCxnSpPr>
        <p:spPr>
          <a:xfrm>
            <a:off x="6917760" y="798840"/>
            <a:ext cx="720" cy="466056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  <p:sp>
        <p:nvSpPr>
          <p:cNvPr id="22" name="PlaceHolder 1"/>
          <p:cNvSpPr>
            <a:spLocks noGrp="1"/>
          </p:cNvSpPr>
          <p:nvPr>
            <p:ph type="ftr" idx="7"/>
          </p:nvPr>
        </p:nvSpPr>
        <p:spPr>
          <a:xfrm>
            <a:off x="1443600" y="329400"/>
            <a:ext cx="403344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&lt;</a:t>
            </a:r>
            <a:r>
              <a:rPr lang="hu-HU" sz="1400" b="0" strike="noStrike" spc="-1" dirty="0" err="1">
                <a:solidFill>
                  <a:srgbClr val="000000"/>
                </a:solidFill>
                <a:latin typeface="Times New Roman"/>
              </a:rPr>
              <a:t>footer</a:t>
            </a: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&gt;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sldNum" idx="8"/>
          </p:nvPr>
        </p:nvSpPr>
        <p:spPr>
          <a:xfrm>
            <a:off x="487800" y="798840"/>
            <a:ext cx="794880" cy="50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2800" b="0" strike="noStrike" spc="-1">
                <a:solidFill>
                  <a:schemeClr val="accent1"/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5526FD-9A6D-4291-94F7-2DBC598E3926}" type="slidenum">
              <a:rPr lang="hu-HU" sz="2800" b="0" strike="noStrike" spc="-1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9"/>
          </p:nvPr>
        </p:nvSpPr>
        <p:spPr>
          <a:xfrm>
            <a:off x="5646600" y="330480"/>
            <a:ext cx="236772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hu-H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r="5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9"/>
          <p:cNvSpPr/>
          <p:nvPr/>
        </p:nvSpPr>
        <p:spPr>
          <a:xfrm>
            <a:off x="0" y="2015640"/>
            <a:ext cx="9143280" cy="407880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Picture 11"/>
          <p:cNvPicPr/>
          <p:nvPr/>
        </p:nvPicPr>
        <p:blipFill>
          <a:blip r:embed="rId3"/>
          <a:srcRect l="12498" t="1526" r="12498" b="-1526"/>
          <a:stretch/>
        </p:blipFill>
        <p:spPr>
          <a:xfrm>
            <a:off x="0" y="6095160"/>
            <a:ext cx="9143280" cy="774000"/>
          </a:xfrm>
          <a:prstGeom prst="rect">
            <a:avLst/>
          </a:prstGeom>
          <a:ln w="0">
            <a:noFill/>
          </a:ln>
        </p:spPr>
      </p:pic>
      <p:cxnSp>
        <p:nvCxnSpPr>
          <p:cNvPr id="38" name="Straight Connector 12"/>
          <p:cNvCxnSpPr/>
          <p:nvPr/>
        </p:nvCxnSpPr>
        <p:spPr>
          <a:xfrm>
            <a:off x="0" y="6100920"/>
            <a:ext cx="9144720" cy="72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cxnSp>
        <p:nvCxnSpPr>
          <p:cNvPr id="39" name="Straight Connector 14"/>
          <p:cNvCxnSpPr/>
          <p:nvPr/>
        </p:nvCxnSpPr>
        <p:spPr>
          <a:xfrm>
            <a:off x="1443240" y="3804840"/>
            <a:ext cx="5617800" cy="72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  <p:sp>
        <p:nvSpPr>
          <p:cNvPr id="40" name="PlaceHolder 1"/>
          <p:cNvSpPr>
            <a:spLocks noGrp="1"/>
          </p:cNvSpPr>
          <p:nvPr>
            <p:ph type="ftr" idx="13"/>
          </p:nvPr>
        </p:nvSpPr>
        <p:spPr>
          <a:xfrm>
            <a:off x="1443600" y="329400"/>
            <a:ext cx="403344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&lt;</a:t>
            </a:r>
            <a:r>
              <a:rPr lang="hu-HU" sz="1400" b="0" strike="noStrike" spc="-1" dirty="0" err="1">
                <a:solidFill>
                  <a:srgbClr val="000000"/>
                </a:solidFill>
                <a:latin typeface="Times New Roman"/>
              </a:rPr>
              <a:t>footer</a:t>
            </a: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&gt;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sldNum" idx="14"/>
          </p:nvPr>
        </p:nvSpPr>
        <p:spPr>
          <a:xfrm>
            <a:off x="487800" y="798840"/>
            <a:ext cx="794880" cy="50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2800" b="0" strike="noStrike" spc="-1">
                <a:solidFill>
                  <a:schemeClr val="accent1"/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4DA92A4-4875-4801-BB67-70F624D85E80}" type="slidenum">
              <a:rPr lang="hu-HU" sz="2800" b="0" strike="noStrike" spc="-1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5"/>
          </p:nvPr>
        </p:nvSpPr>
        <p:spPr>
          <a:xfrm>
            <a:off x="5646600" y="330480"/>
            <a:ext cx="236772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hu-H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r="5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9"/>
          <p:cNvSpPr/>
          <p:nvPr/>
        </p:nvSpPr>
        <p:spPr>
          <a:xfrm>
            <a:off x="0" y="2015640"/>
            <a:ext cx="9143280" cy="407880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Picture 11"/>
          <p:cNvPicPr/>
          <p:nvPr/>
        </p:nvPicPr>
        <p:blipFill>
          <a:blip r:embed="rId3"/>
          <a:srcRect l="12498" t="1526" r="12498" b="-1526"/>
          <a:stretch/>
        </p:blipFill>
        <p:spPr>
          <a:xfrm>
            <a:off x="0" y="6095160"/>
            <a:ext cx="9143280" cy="774000"/>
          </a:xfrm>
          <a:prstGeom prst="rect">
            <a:avLst/>
          </a:prstGeom>
          <a:ln w="0">
            <a:noFill/>
          </a:ln>
        </p:spPr>
      </p:pic>
      <p:cxnSp>
        <p:nvCxnSpPr>
          <p:cNvPr id="45" name="Straight Connector 12"/>
          <p:cNvCxnSpPr/>
          <p:nvPr/>
        </p:nvCxnSpPr>
        <p:spPr>
          <a:xfrm>
            <a:off x="0" y="6100920"/>
            <a:ext cx="9144720" cy="72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cxnSp>
        <p:nvCxnSpPr>
          <p:cNvPr id="46" name="Straight Connector 32"/>
          <p:cNvCxnSpPr/>
          <p:nvPr/>
        </p:nvCxnSpPr>
        <p:spPr>
          <a:xfrm>
            <a:off x="1443240" y="1846800"/>
            <a:ext cx="6572160" cy="72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072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160" cy="344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222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160" cy="344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222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ftr" idx="16"/>
          </p:nvPr>
        </p:nvSpPr>
        <p:spPr>
          <a:xfrm>
            <a:off x="1443600" y="329400"/>
            <a:ext cx="403344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&lt;</a:t>
            </a:r>
            <a:r>
              <a:rPr lang="hu-HU" sz="1400" b="0" strike="noStrike" spc="-1" dirty="0" err="1">
                <a:solidFill>
                  <a:srgbClr val="000000"/>
                </a:solidFill>
                <a:latin typeface="Times New Roman"/>
              </a:rPr>
              <a:t>footer</a:t>
            </a: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&gt;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sldNum" idx="17"/>
          </p:nvPr>
        </p:nvSpPr>
        <p:spPr>
          <a:xfrm>
            <a:off x="487800" y="798840"/>
            <a:ext cx="794880" cy="50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2800" b="0" strike="noStrike" spc="-1">
                <a:solidFill>
                  <a:schemeClr val="accent1"/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2F22065-5168-420B-AE61-CC3E0C5347CB}" type="slidenum">
              <a:rPr lang="hu-HU" sz="2800" b="0" strike="noStrike" spc="-1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18"/>
          </p:nvPr>
        </p:nvSpPr>
        <p:spPr>
          <a:xfrm>
            <a:off x="5646600" y="330480"/>
            <a:ext cx="236772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hu-H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r="5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9"/>
          <p:cNvSpPr/>
          <p:nvPr/>
        </p:nvSpPr>
        <p:spPr>
          <a:xfrm>
            <a:off x="0" y="2015640"/>
            <a:ext cx="9143280" cy="407880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Picture 11"/>
          <p:cNvPicPr/>
          <p:nvPr/>
        </p:nvPicPr>
        <p:blipFill>
          <a:blip r:embed="rId3"/>
          <a:srcRect l="12498" t="1526" r="12498" b="-1526"/>
          <a:stretch/>
        </p:blipFill>
        <p:spPr>
          <a:xfrm>
            <a:off x="0" y="6095160"/>
            <a:ext cx="9143280" cy="774000"/>
          </a:xfrm>
          <a:prstGeom prst="rect">
            <a:avLst/>
          </a:prstGeom>
          <a:ln w="0">
            <a:noFill/>
          </a:ln>
        </p:spPr>
      </p:pic>
      <p:cxnSp>
        <p:nvCxnSpPr>
          <p:cNvPr id="58" name="Straight Connector 12"/>
          <p:cNvCxnSpPr/>
          <p:nvPr/>
        </p:nvCxnSpPr>
        <p:spPr>
          <a:xfrm>
            <a:off x="0" y="6100920"/>
            <a:ext cx="9144720" cy="72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cxnSp>
        <p:nvCxnSpPr>
          <p:cNvPr id="59" name="Straight Connector 35"/>
          <p:cNvCxnSpPr/>
          <p:nvPr/>
        </p:nvCxnSpPr>
        <p:spPr>
          <a:xfrm>
            <a:off x="1443240" y="1846800"/>
            <a:ext cx="6572160" cy="72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  <p:sp>
        <p:nvSpPr>
          <p:cNvPr id="60" name="PlaceHolder 1"/>
          <p:cNvSpPr>
            <a:spLocks noGrp="1"/>
          </p:cNvSpPr>
          <p:nvPr>
            <p:ph type="ftr" idx="19"/>
          </p:nvPr>
        </p:nvSpPr>
        <p:spPr>
          <a:xfrm>
            <a:off x="1443600" y="329400"/>
            <a:ext cx="403344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&lt;</a:t>
            </a:r>
            <a:r>
              <a:rPr lang="hu-HU" sz="1400" b="0" strike="noStrike" spc="-1" dirty="0" err="1">
                <a:solidFill>
                  <a:srgbClr val="000000"/>
                </a:solidFill>
                <a:latin typeface="Times New Roman"/>
              </a:rPr>
              <a:t>footer</a:t>
            </a: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&gt;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sldNum" idx="20"/>
          </p:nvPr>
        </p:nvSpPr>
        <p:spPr>
          <a:xfrm>
            <a:off x="487800" y="798840"/>
            <a:ext cx="794880" cy="50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2800" b="0" strike="noStrike" spc="-1">
                <a:solidFill>
                  <a:schemeClr val="accent1"/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8998F78-96DF-4BC5-8EA8-9A0427C8E1FE}" type="slidenum">
              <a:rPr lang="hu-HU" sz="2800" b="0" strike="noStrike" spc="-1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21"/>
          </p:nvPr>
        </p:nvSpPr>
        <p:spPr>
          <a:xfrm>
            <a:off x="5646600" y="330480"/>
            <a:ext cx="236772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hu-H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r="5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9"/>
          <p:cNvSpPr/>
          <p:nvPr/>
        </p:nvSpPr>
        <p:spPr>
          <a:xfrm>
            <a:off x="0" y="2015640"/>
            <a:ext cx="9143280" cy="407880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Picture 11"/>
          <p:cNvPicPr/>
          <p:nvPr/>
        </p:nvPicPr>
        <p:blipFill>
          <a:blip r:embed="rId3"/>
          <a:srcRect l="12498" t="1526" r="12498" b="-1526"/>
          <a:stretch/>
        </p:blipFill>
        <p:spPr>
          <a:xfrm>
            <a:off x="0" y="6095160"/>
            <a:ext cx="9143280" cy="774000"/>
          </a:xfrm>
          <a:prstGeom prst="rect">
            <a:avLst/>
          </a:prstGeom>
          <a:ln w="0">
            <a:noFill/>
          </a:ln>
        </p:spPr>
      </p:pic>
      <p:cxnSp>
        <p:nvCxnSpPr>
          <p:cNvPr id="65" name="Straight Connector 12"/>
          <p:cNvCxnSpPr/>
          <p:nvPr/>
        </p:nvCxnSpPr>
        <p:spPr>
          <a:xfrm>
            <a:off x="0" y="6100920"/>
            <a:ext cx="9144720" cy="72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cxnSp>
        <p:nvCxnSpPr>
          <p:cNvPr id="66" name="Straight Connector 31"/>
          <p:cNvCxnSpPr/>
          <p:nvPr/>
        </p:nvCxnSpPr>
        <p:spPr>
          <a:xfrm>
            <a:off x="1443240" y="1846800"/>
            <a:ext cx="6572160" cy="72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072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hu-HU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ftr" idx="22"/>
          </p:nvPr>
        </p:nvSpPr>
        <p:spPr>
          <a:xfrm>
            <a:off x="1443600" y="329400"/>
            <a:ext cx="403344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&lt;</a:t>
            </a:r>
            <a:r>
              <a:rPr lang="hu-HU" sz="1400" b="0" strike="noStrike" spc="-1" dirty="0" err="1">
                <a:solidFill>
                  <a:srgbClr val="000000"/>
                </a:solidFill>
                <a:latin typeface="Times New Roman"/>
              </a:rPr>
              <a:t>footer</a:t>
            </a: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&gt;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sldNum" idx="23"/>
          </p:nvPr>
        </p:nvSpPr>
        <p:spPr>
          <a:xfrm>
            <a:off x="487800" y="798840"/>
            <a:ext cx="794880" cy="50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2800" b="0" strike="noStrike" spc="-1">
                <a:solidFill>
                  <a:schemeClr val="accent1"/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725D9A3-B556-40ED-AEBD-138AB3B7D766}" type="slidenum">
              <a:rPr lang="hu-HU" sz="2800" b="0" strike="noStrike" spc="-1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24"/>
          </p:nvPr>
        </p:nvSpPr>
        <p:spPr>
          <a:xfrm>
            <a:off x="5646600" y="330480"/>
            <a:ext cx="236772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hu-H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r="5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9"/>
          <p:cNvSpPr/>
          <p:nvPr/>
        </p:nvSpPr>
        <p:spPr>
          <a:xfrm>
            <a:off x="0" y="2015640"/>
            <a:ext cx="9143280" cy="407880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Picture 11"/>
          <p:cNvPicPr/>
          <p:nvPr/>
        </p:nvPicPr>
        <p:blipFill>
          <a:blip r:embed="rId3"/>
          <a:srcRect l="12498" t="1526" r="12498" b="-1526"/>
          <a:stretch/>
        </p:blipFill>
        <p:spPr>
          <a:xfrm>
            <a:off x="0" y="6095160"/>
            <a:ext cx="9143280" cy="774000"/>
          </a:xfrm>
          <a:prstGeom prst="rect">
            <a:avLst/>
          </a:prstGeom>
          <a:ln w="0">
            <a:noFill/>
          </a:ln>
        </p:spPr>
      </p:pic>
      <p:cxnSp>
        <p:nvCxnSpPr>
          <p:cNvPr id="74" name="Straight Connector 12"/>
          <p:cNvCxnSpPr/>
          <p:nvPr/>
        </p:nvCxnSpPr>
        <p:spPr>
          <a:xfrm>
            <a:off x="0" y="6100920"/>
            <a:ext cx="9144720" cy="72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75" name="PlaceHolder 1"/>
          <p:cNvSpPr>
            <a:spLocks noGrp="1"/>
          </p:cNvSpPr>
          <p:nvPr>
            <p:ph type="ftr" idx="25"/>
          </p:nvPr>
        </p:nvSpPr>
        <p:spPr>
          <a:xfrm>
            <a:off x="1443600" y="329400"/>
            <a:ext cx="403344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&lt;</a:t>
            </a:r>
            <a:r>
              <a:rPr lang="hu-HU" sz="1400" b="0" strike="noStrike" spc="-1" dirty="0" err="1">
                <a:solidFill>
                  <a:srgbClr val="000000"/>
                </a:solidFill>
                <a:latin typeface="Times New Roman"/>
              </a:rPr>
              <a:t>footer</a:t>
            </a: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&gt;</a:t>
            </a:r>
          </a:p>
        </p:txBody>
      </p:sp>
      <p:sp>
        <p:nvSpPr>
          <p:cNvPr id="76" name="PlaceHolder 2"/>
          <p:cNvSpPr>
            <a:spLocks noGrp="1"/>
          </p:cNvSpPr>
          <p:nvPr>
            <p:ph type="sldNum" idx="26"/>
          </p:nvPr>
        </p:nvSpPr>
        <p:spPr>
          <a:xfrm>
            <a:off x="487800" y="798840"/>
            <a:ext cx="794880" cy="50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2800" b="0" strike="noStrike" spc="-1">
                <a:solidFill>
                  <a:schemeClr val="accent1"/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44C72E7-26E2-4765-8BF1-0C7658D42410}" type="slidenum">
              <a:rPr lang="hu-HU" sz="2800" b="0" strike="noStrike" spc="-1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dt" idx="27"/>
          </p:nvPr>
        </p:nvSpPr>
        <p:spPr>
          <a:xfrm>
            <a:off x="5646600" y="330480"/>
            <a:ext cx="236772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hu-H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r="5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9"/>
          <p:cNvSpPr/>
          <p:nvPr/>
        </p:nvSpPr>
        <p:spPr>
          <a:xfrm>
            <a:off x="0" y="2015640"/>
            <a:ext cx="9143280" cy="407880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Picture 11"/>
          <p:cNvPicPr/>
          <p:nvPr/>
        </p:nvPicPr>
        <p:blipFill>
          <a:blip r:embed="rId3"/>
          <a:srcRect l="12498" t="1526" r="12498" b="-1526"/>
          <a:stretch/>
        </p:blipFill>
        <p:spPr>
          <a:xfrm>
            <a:off x="0" y="6095160"/>
            <a:ext cx="9143280" cy="774000"/>
          </a:xfrm>
          <a:prstGeom prst="rect">
            <a:avLst/>
          </a:prstGeom>
          <a:ln w="0">
            <a:noFill/>
          </a:ln>
        </p:spPr>
      </p:pic>
      <p:cxnSp>
        <p:nvCxnSpPr>
          <p:cNvPr id="80" name="Straight Connector 12"/>
          <p:cNvCxnSpPr/>
          <p:nvPr/>
        </p:nvCxnSpPr>
        <p:spPr>
          <a:xfrm>
            <a:off x="0" y="6100920"/>
            <a:ext cx="9144720" cy="72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cxnSp>
        <p:nvCxnSpPr>
          <p:cNvPr id="81" name="Straight Connector 16"/>
          <p:cNvCxnSpPr/>
          <p:nvPr/>
        </p:nvCxnSpPr>
        <p:spPr>
          <a:xfrm>
            <a:off x="1441440" y="3205440"/>
            <a:ext cx="2424240" cy="72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  <p:sp>
        <p:nvSpPr>
          <p:cNvPr id="82" name="PlaceHolder 1"/>
          <p:cNvSpPr>
            <a:spLocks noGrp="1"/>
          </p:cNvSpPr>
          <p:nvPr>
            <p:ph type="ftr" idx="28"/>
          </p:nvPr>
        </p:nvSpPr>
        <p:spPr>
          <a:xfrm>
            <a:off x="1443600" y="329400"/>
            <a:ext cx="403344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&lt;</a:t>
            </a:r>
            <a:r>
              <a:rPr lang="hu-HU" sz="1400" b="0" strike="noStrike" spc="-1" dirty="0" err="1">
                <a:solidFill>
                  <a:srgbClr val="000000"/>
                </a:solidFill>
                <a:latin typeface="Times New Roman"/>
              </a:rPr>
              <a:t>footer</a:t>
            </a: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&gt;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sldNum" idx="29"/>
          </p:nvPr>
        </p:nvSpPr>
        <p:spPr>
          <a:xfrm>
            <a:off x="487800" y="798840"/>
            <a:ext cx="794880" cy="50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2800" b="0" strike="noStrike" spc="-1">
                <a:solidFill>
                  <a:schemeClr val="accent1"/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0337E4D-16E9-4EB1-BE6D-4C30A845312B}" type="slidenum">
              <a:rPr lang="hu-HU" sz="2800" b="0" strike="noStrike" spc="-1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30"/>
          </p:nvPr>
        </p:nvSpPr>
        <p:spPr>
          <a:xfrm>
            <a:off x="5646600" y="330480"/>
            <a:ext cx="2367720" cy="30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hu-H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r="5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9"/>
          <p:cNvSpPr/>
          <p:nvPr/>
        </p:nvSpPr>
        <p:spPr>
          <a:xfrm>
            <a:off x="0" y="2015640"/>
            <a:ext cx="9143280" cy="407880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Picture 11"/>
          <p:cNvPicPr/>
          <p:nvPr/>
        </p:nvPicPr>
        <p:blipFill>
          <a:blip r:embed="rId3"/>
          <a:srcRect l="12498" t="1526" r="12498" b="-1526"/>
          <a:stretch/>
        </p:blipFill>
        <p:spPr>
          <a:xfrm>
            <a:off x="0" y="6095160"/>
            <a:ext cx="9143280" cy="774000"/>
          </a:xfrm>
          <a:prstGeom prst="rect">
            <a:avLst/>
          </a:prstGeom>
          <a:ln w="0">
            <a:noFill/>
          </a:ln>
        </p:spPr>
      </p:pic>
      <p:cxnSp>
        <p:nvCxnSpPr>
          <p:cNvPr id="87" name="Straight Connector 12"/>
          <p:cNvCxnSpPr/>
          <p:nvPr/>
        </p:nvCxnSpPr>
        <p:spPr>
          <a:xfrm>
            <a:off x="0" y="6100920"/>
            <a:ext cx="9144720" cy="72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grpSp>
        <p:nvGrpSpPr>
          <p:cNvPr id="88" name="Group 12"/>
          <p:cNvGrpSpPr/>
          <p:nvPr/>
        </p:nvGrpSpPr>
        <p:grpSpPr>
          <a:xfrm>
            <a:off x="4996440" y="482040"/>
            <a:ext cx="3510720" cy="5148360"/>
            <a:chOff x="4996440" y="482040"/>
            <a:chExt cx="3510720" cy="5148360"/>
          </a:xfrm>
        </p:grpSpPr>
        <p:sp>
          <p:nvSpPr>
            <p:cNvPr id="89" name="Rectangle 13"/>
            <p:cNvSpPr/>
            <p:nvPr/>
          </p:nvSpPr>
          <p:spPr>
            <a:xfrm>
              <a:off x="4996440" y="482040"/>
              <a:ext cx="3510720" cy="5148360"/>
            </a:xfrm>
            <a:prstGeom prst="rect">
              <a:avLst/>
            </a:prstGeom>
            <a:gradFill rotWithShape="0"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/>
            </a:gradFill>
            <a:ln w="76200">
              <a:noFill/>
            </a:ln>
            <a:effectLst>
              <a:outerShdw blurRad="127080" dist="228470" dir="4740526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hu-HU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Rectangle 14"/>
            <p:cNvSpPr/>
            <p:nvPr/>
          </p:nvSpPr>
          <p:spPr>
            <a:xfrm>
              <a:off x="5312160" y="812520"/>
              <a:ext cx="2882160" cy="4478760"/>
            </a:xfrm>
            <a:prstGeom prst="rect">
              <a:avLst/>
            </a:prstGeom>
            <a:gradFill rotWithShape="0"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/>
            </a:gradFill>
            <a:ln w="50800">
              <a:solidFill>
                <a:srgbClr val="191919"/>
              </a:solidFill>
              <a:miter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hu-HU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91" name="Straight Connector 30"/>
          <p:cNvCxnSpPr/>
          <p:nvPr/>
        </p:nvCxnSpPr>
        <p:spPr>
          <a:xfrm>
            <a:off x="1441080" y="3143520"/>
            <a:ext cx="3242880" cy="72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  <p:sp>
        <p:nvSpPr>
          <p:cNvPr id="92" name="PlaceHolder 1"/>
          <p:cNvSpPr>
            <a:spLocks noGrp="1"/>
          </p:cNvSpPr>
          <p:nvPr>
            <p:ph type="ftr" idx="31"/>
          </p:nvPr>
        </p:nvSpPr>
        <p:spPr>
          <a:xfrm>
            <a:off x="1437480" y="318600"/>
            <a:ext cx="3250800" cy="32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&lt;</a:t>
            </a:r>
            <a:r>
              <a:rPr lang="hu-HU" sz="1400" b="0" strike="noStrike" spc="-1" dirty="0" err="1">
                <a:solidFill>
                  <a:srgbClr val="000000"/>
                </a:solidFill>
                <a:latin typeface="Times New Roman"/>
              </a:rPr>
              <a:t>footer</a:t>
            </a:r>
            <a:r>
              <a:rPr lang="hu-HU" sz="1400" b="0" strike="noStrike" spc="-1" dirty="0">
                <a:solidFill>
                  <a:srgbClr val="000000"/>
                </a:solidFill>
                <a:latin typeface="Times New Roman"/>
              </a:rPr>
              <a:t>&gt;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sldNum" idx="32"/>
          </p:nvPr>
        </p:nvSpPr>
        <p:spPr>
          <a:xfrm>
            <a:off x="487800" y="798840"/>
            <a:ext cx="794880" cy="50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2800" b="0" strike="noStrike" spc="-1">
                <a:solidFill>
                  <a:schemeClr val="accent1"/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4AFCAFF-A214-465A-B6BC-E2C0E77FF2FD}" type="slidenum">
              <a:rPr lang="hu-HU" sz="2800" b="0" strike="noStrike" spc="-1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dt" idx="33"/>
          </p:nvPr>
        </p:nvSpPr>
        <p:spPr>
          <a:xfrm>
            <a:off x="1436760" y="5469840"/>
            <a:ext cx="3251880" cy="31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hu-H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>
              <a:buNone/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&lt;date/time&gt;</a:t>
            </a:r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&lt;footer&gt;</a:t>
            </a:r>
            <a:endParaRPr lang="hu-HU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AE795F5-75E8-4F1C-BD47-A55C2A3B6E85}" type="slidenum">
              <a:rPr lang="hu-HU" sz="2800" b="0" strike="noStrike" spc="-1" smtClean="0">
                <a:solidFill>
                  <a:schemeClr val="accent1"/>
                </a:solidFill>
                <a:latin typeface="Gill Sans MT"/>
              </a:rPr>
              <a:t>‹#›</a:t>
            </a:fld>
            <a:endParaRPr lang="hu-HU" sz="2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161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 idx="1"/>
          </p:nvPr>
        </p:nvSpPr>
        <p:spPr>
          <a:xfrm>
            <a:off x="631260" y="5654714"/>
            <a:ext cx="8168040" cy="217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 defTabSz="685800">
              <a:lnSpc>
                <a:spcPct val="120000"/>
              </a:lnSpc>
              <a:tabLst>
                <a:tab pos="0" algn="l"/>
              </a:tabLst>
            </a:pPr>
            <a:r>
              <a:rPr lang="hu-HU" sz="2400" b="1" strike="noStrike" cap="all" spc="-1" dirty="0">
                <a:solidFill>
                  <a:schemeClr val="tx1"/>
                </a:solidFill>
                <a:latin typeface="Arial"/>
              </a:rPr>
              <a:t>Készítette: </a:t>
            </a:r>
            <a:r>
              <a:rPr lang="hu-HU" sz="2400" b="1" strike="noStrike" cap="all" spc="-1" dirty="0" smtClean="0">
                <a:solidFill>
                  <a:schemeClr val="tx1"/>
                </a:solidFill>
                <a:latin typeface="Arial"/>
              </a:rPr>
              <a:t>Bakó Bence, Kósa Nátán, Szonda Mercédesz</a:t>
            </a:r>
            <a:endParaRPr lang="hu-HU" sz="2400" b="1" strike="noStrike" spc="-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8108534" y="6072529"/>
            <a:ext cx="856907" cy="669925"/>
          </a:xfrm>
        </p:spPr>
        <p:txBody>
          <a:bodyPr/>
          <a:lstStyle/>
          <a:p>
            <a:fld id="{29528540-9C15-4860-A508-7903DB34F8BC}" type="slidenum">
              <a:rPr sz="4000" b="1">
                <a:solidFill>
                  <a:schemeClr val="tx1"/>
                </a:solidFill>
              </a:rPr>
              <a:t>1</a:t>
            </a:fld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96" name="Szövegdoboz 6"/>
          <p:cNvSpPr/>
          <p:nvPr/>
        </p:nvSpPr>
        <p:spPr>
          <a:xfrm>
            <a:off x="1418491" y="3754800"/>
            <a:ext cx="6593578" cy="13835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u-HU" sz="2800" b="1" strike="noStrike" spc="-1" dirty="0" smtClean="0">
                <a:latin typeface="Arial"/>
              </a:rPr>
              <a:t>Szoftverfejlesztő és -tesztelő képzés </a:t>
            </a:r>
          </a:p>
          <a:p>
            <a:pPr algn="ctr" defTabSz="457200">
              <a:lnSpc>
                <a:spcPct val="100000"/>
              </a:lnSpc>
            </a:pPr>
            <a:r>
              <a:rPr lang="hu-HU" sz="2800" b="1" strike="noStrike" spc="-1" dirty="0" smtClean="0">
                <a:latin typeface="Arial"/>
              </a:rPr>
              <a:t>vizsgaremek</a:t>
            </a:r>
          </a:p>
          <a:p>
            <a:pPr algn="ctr" defTabSz="457200">
              <a:lnSpc>
                <a:spcPct val="100000"/>
              </a:lnSpc>
            </a:pPr>
            <a:r>
              <a:rPr lang="hu-HU" sz="2800" b="1" spc="-1" dirty="0" smtClean="0">
                <a:latin typeface="Arial"/>
              </a:rPr>
              <a:t>2025</a:t>
            </a:r>
            <a:endParaRPr lang="hu-HU" sz="2800" b="1" strike="noStrike" spc="-1" dirty="0">
              <a:latin typeface="Arial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491" y="654424"/>
            <a:ext cx="5626347" cy="2734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20227" y="961293"/>
            <a:ext cx="4588104" cy="54219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000"/>
          </a:bodyPr>
          <a:lstStyle/>
          <a:p>
            <a:pPr indent="0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 smtClean="0">
                <a:latin typeface="Gill Sans MT"/>
              </a:rPr>
              <a:t>Szonda Mercédesz:</a:t>
            </a:r>
            <a:endParaRPr lang="hu-HU" sz="32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8109705" y="5912585"/>
            <a:ext cx="856907" cy="669925"/>
          </a:xfrm>
        </p:spPr>
        <p:txBody>
          <a:bodyPr/>
          <a:lstStyle/>
          <a:p>
            <a:fld id="{A2A8E296-59DD-4ACC-9547-41B2B0682A28}" type="slidenum">
              <a:rPr sz="4000" b="1">
                <a:solidFill>
                  <a:schemeClr val="tx1"/>
                </a:solidFill>
              </a:rPr>
              <a:t>2</a:t>
            </a:fld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241" name="Szövegdoboz 6"/>
          <p:cNvSpPr/>
          <p:nvPr/>
        </p:nvSpPr>
        <p:spPr>
          <a:xfrm>
            <a:off x="520227" y="1624445"/>
            <a:ext cx="7404840" cy="31686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/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bootstrap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ensure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site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work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devices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defTabSz="457200"/>
            <a:endParaRPr lang="hu-H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/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echart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diagrams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display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making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it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easier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understand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these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things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defTabSz="457200"/>
            <a:endParaRPr lang="hu-H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/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ckeditor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text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editing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every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people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who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wants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edit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website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edit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it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they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it.</a:t>
            </a:r>
          </a:p>
          <a:p>
            <a:pPr algn="just" defTabSz="457200"/>
            <a:endParaRPr lang="hu-H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/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And I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helped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help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easily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understand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website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works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hu-H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597518"/>
            <a:ext cx="3039328" cy="76529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000"/>
          </a:bodyPr>
          <a:lstStyle/>
          <a:p>
            <a:pPr indent="0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 smtClean="0">
                <a:latin typeface="Gill Sans MT"/>
              </a:rPr>
              <a:t>Kósa Nátán</a:t>
            </a:r>
            <a:r>
              <a:rPr lang="hu-HU" sz="3200" b="1" strike="noStrike" cap="all" spc="-1" dirty="0">
                <a:latin typeface="Gill Sans MT"/>
              </a:rPr>
              <a:t>:</a:t>
            </a:r>
            <a:endParaRPr lang="hu-HU" sz="32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8108534" y="5956548"/>
            <a:ext cx="856907" cy="669925"/>
          </a:xfrm>
        </p:spPr>
        <p:txBody>
          <a:bodyPr/>
          <a:lstStyle/>
          <a:p>
            <a:fld id="{9868A9D0-DB29-4FF9-8625-5BED62BC8D20}" type="slidenum">
              <a:rPr sz="4000" b="1">
                <a:solidFill>
                  <a:schemeClr val="tx1"/>
                </a:solidFill>
              </a:rPr>
              <a:t>3</a:t>
            </a:fld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235" name="Szövegdoboz 6"/>
          <p:cNvSpPr/>
          <p:nvPr/>
        </p:nvSpPr>
        <p:spPr>
          <a:xfrm>
            <a:off x="609480" y="1099038"/>
            <a:ext cx="7404840" cy="3476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/>
            <a:endParaRPr lang="hu-HU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/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My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well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collected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teammate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 defTabSz="457200"/>
            <a:endParaRPr lang="hu-HU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/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had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would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be </a:t>
            </a:r>
            <a:r>
              <a:rPr lang="hu-H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easily</a:t>
            </a:r>
            <a:r>
              <a:rPr 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accessible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 defTabSz="457200"/>
            <a:endParaRPr lang="hu-HU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/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also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Developed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fremwork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supports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defTabSz="457200"/>
            <a:endParaRPr lang="hu-HU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/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CRUD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short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operation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ensure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fully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r>
              <a:rPr lang="hu-H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hu-H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Rectangle 1"/>
          <p:cNvSpPr/>
          <p:nvPr/>
        </p:nvSpPr>
        <p:spPr>
          <a:xfrm>
            <a:off x="0" y="102960"/>
            <a:ext cx="360" cy="25056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-12600" rIns="0" bIns="-12600" numCol="1" spcCol="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hu-HU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63062" y="838200"/>
            <a:ext cx="3273669" cy="54219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 smtClean="0">
                <a:latin typeface="Gill Sans MT"/>
              </a:rPr>
              <a:t>Bakó Bence</a:t>
            </a:r>
            <a:r>
              <a:rPr lang="hu-HU" sz="3200" b="1" strike="noStrike" cap="all" spc="-1" dirty="0">
                <a:latin typeface="Gill Sans MT"/>
              </a:rPr>
              <a:t>:</a:t>
            </a:r>
            <a:endParaRPr lang="hu-HU" sz="3200" b="0" strike="noStrike" spc="-1" dirty="0"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idx="1"/>
          </p:nvPr>
        </p:nvSpPr>
        <p:spPr>
          <a:xfrm>
            <a:off x="149468" y="1452933"/>
            <a:ext cx="6449289" cy="34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fully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responsible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developing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website, and i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led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creativ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direction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project.</a:t>
            </a:r>
          </a:p>
          <a:p>
            <a:pPr indent="0" defTabSz="6858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gather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detailed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descriptions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various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drinks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site</a:t>
            </a:r>
          </a:p>
          <a:p>
            <a:pPr indent="0" defTabSz="6858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organized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well-structured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easily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manageble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spreadsheet</a:t>
            </a:r>
            <a:r>
              <a:rPr lang="hu-HU" b="1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indent="0" defTabSz="6858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converted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sheet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appropriate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allowmed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easily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website and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accessible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u-HU" sz="1800" b="1" strike="noStrike" spc="-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b="1" strike="noStrike" spc="-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endParaRPr lang="hu-HU" sz="1800" b="1" strike="noStrike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8126118" y="5965340"/>
            <a:ext cx="856907" cy="669925"/>
          </a:xfrm>
        </p:spPr>
        <p:txBody>
          <a:bodyPr/>
          <a:lstStyle/>
          <a:p>
            <a:fld id="{F719DD9F-F917-4826-A958-2B8AB5EEA306}" type="slidenum">
              <a:rPr sz="4000" b="1">
                <a:solidFill>
                  <a:schemeClr val="tx1"/>
                </a:solidFill>
              </a:rPr>
              <a:t>4</a:t>
            </a:fld>
            <a:endParaRPr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2690446" y="716406"/>
            <a:ext cx="3491488" cy="77843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>
                <a:latin typeface="Gill Sans MT"/>
              </a:rPr>
              <a:t>Prezentáció</a:t>
            </a:r>
            <a:endParaRPr lang="hu-HU" sz="3200" b="0" strike="noStrike" spc="-1" dirty="0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idx="1"/>
          </p:nvPr>
        </p:nvSpPr>
        <p:spPr>
          <a:xfrm>
            <a:off x="885600" y="1917000"/>
            <a:ext cx="7416000" cy="390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20000"/>
          </a:bodyPr>
          <a:lstStyle/>
          <a:p>
            <a:pPr marL="122040" indent="0" algn="ctr" defTabSz="6858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hu-HU" sz="12800" b="0" strike="noStrike" spc="-1" dirty="0">
                <a:solidFill>
                  <a:schemeClr val="dk1"/>
                </a:solidFill>
                <a:latin typeface="Arial"/>
              </a:rPr>
              <a:t>Az </a:t>
            </a:r>
            <a:r>
              <a:rPr lang="hu-HU" sz="12800" b="1" spc="-1" dirty="0" err="1" smtClean="0">
                <a:solidFill>
                  <a:schemeClr val="dk1"/>
                </a:solidFill>
                <a:latin typeface="Arial"/>
              </a:rPr>
              <a:t>DrinkStore</a:t>
            </a:r>
            <a:r>
              <a:rPr lang="hu-HU" sz="12800" b="0" strike="noStrike" spc="-1" dirty="0" smtClean="0">
                <a:solidFill>
                  <a:schemeClr val="dk1"/>
                </a:solidFill>
                <a:latin typeface="Arial"/>
              </a:rPr>
              <a:t> </a:t>
            </a:r>
            <a:r>
              <a:rPr lang="hu-HU" sz="12800" b="0" strike="noStrike" spc="-1" dirty="0">
                <a:solidFill>
                  <a:schemeClr val="dk1"/>
                </a:solidFill>
                <a:latin typeface="Arial"/>
              </a:rPr>
              <a:t>webshopot fogjuk bemutatni.</a:t>
            </a:r>
            <a:endParaRPr lang="hu-HU" sz="12800" b="0" strike="noStrike" spc="-1" dirty="0">
              <a:solidFill>
                <a:srgbClr val="000000"/>
              </a:solidFill>
              <a:latin typeface="Arial"/>
            </a:endParaRPr>
          </a:p>
          <a:p>
            <a:pPr marL="122040" indent="0" algn="ctr" defTabSz="685800">
              <a:lnSpc>
                <a:spcPct val="120000"/>
              </a:lnSpc>
              <a:buNone/>
              <a:tabLst>
                <a:tab pos="0" algn="l"/>
              </a:tabLst>
            </a:pPr>
            <a:endParaRPr lang="hu-HU" sz="12800" b="0" strike="noStrike" spc="-1" dirty="0">
              <a:solidFill>
                <a:srgbClr val="000000"/>
              </a:solidFill>
              <a:latin typeface="Arial"/>
            </a:endParaRPr>
          </a:p>
          <a:p>
            <a:pPr marL="122040" indent="0" algn="ctr" defTabSz="6858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hu-HU" sz="12800" b="0" strike="noStrike" spc="-1" dirty="0">
                <a:solidFill>
                  <a:schemeClr val="dk1"/>
                </a:solidFill>
                <a:latin typeface="Arial"/>
              </a:rPr>
              <a:t>A weboldal, amit készítettünk különböző </a:t>
            </a:r>
            <a:r>
              <a:rPr lang="hu-HU" sz="12800" b="1" strike="noStrike" spc="-1" dirty="0">
                <a:solidFill>
                  <a:schemeClr val="dk1"/>
                </a:solidFill>
                <a:latin typeface="Arial"/>
              </a:rPr>
              <a:t>alkoholos italok online vásárlását</a:t>
            </a:r>
            <a:r>
              <a:rPr lang="hu-HU" sz="12800" b="0" strike="noStrike" spc="-1" dirty="0">
                <a:solidFill>
                  <a:schemeClr val="dk1"/>
                </a:solidFill>
                <a:latin typeface="Arial"/>
              </a:rPr>
              <a:t> teszi lehetővé.</a:t>
            </a:r>
            <a:endParaRPr lang="hu-HU" sz="12800" b="0" strike="noStrike" spc="-1" dirty="0">
              <a:solidFill>
                <a:srgbClr val="000000"/>
              </a:solidFill>
              <a:latin typeface="Arial"/>
            </a:endParaRPr>
          </a:p>
          <a:p>
            <a:pPr marL="122040" indent="0" algn="ctr" defTabSz="6858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hu-HU" sz="128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hu-HU" sz="12800" b="1" strike="noStrike" spc="-1" dirty="0">
                <a:solidFill>
                  <a:srgbClr val="FF0000"/>
                </a:solidFill>
                <a:latin typeface="Arial"/>
              </a:rPr>
              <a:t>Alkoholos italt csak a 18. életévét betöltött személyek vásárolhatnak! </a:t>
            </a:r>
            <a:r>
              <a:rPr lang="hu-HU" sz="2000" b="0" strike="noStrike" spc="-1" dirty="0">
                <a:solidFill>
                  <a:srgbClr val="FF0000"/>
                </a:solidFill>
                <a:latin typeface="Gill Sans MT"/>
              </a:rPr>
              <a:t>	</a:t>
            </a:r>
            <a:endParaRPr lang="hu-HU" sz="20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8099741" y="6009302"/>
            <a:ext cx="856907" cy="669925"/>
          </a:xfrm>
        </p:spPr>
        <p:txBody>
          <a:bodyPr/>
          <a:lstStyle/>
          <a:p>
            <a:fld id="{D2ED3F83-8F5E-4046-9497-A9FA8397A8AA}" type="slidenum">
              <a:rPr sz="4000" b="1">
                <a:solidFill>
                  <a:schemeClr val="tx1"/>
                </a:solidFill>
              </a:rPr>
              <a:t>5</a:t>
            </a:fld>
            <a:endParaRPr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927000"/>
            <a:ext cx="4909270" cy="66440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>
                <a:latin typeface="Gill Sans MT"/>
              </a:rPr>
              <a:t>Az oldal előnyei:</a:t>
            </a:r>
            <a:endParaRPr lang="hu-HU" sz="32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8099741" y="5912586"/>
            <a:ext cx="856907" cy="669925"/>
          </a:xfrm>
        </p:spPr>
        <p:txBody>
          <a:bodyPr/>
          <a:lstStyle/>
          <a:p>
            <a:fld id="{832326C3-8455-4B84-BF8E-6620F971406F}" type="slidenum">
              <a:rPr sz="4000" b="1">
                <a:solidFill>
                  <a:schemeClr val="tx1"/>
                </a:solidFill>
              </a:rPr>
              <a:t>6</a:t>
            </a:fld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102" name="Szövegdoboz 6"/>
          <p:cNvSpPr/>
          <p:nvPr/>
        </p:nvSpPr>
        <p:spPr>
          <a:xfrm>
            <a:off x="95220" y="1788481"/>
            <a:ext cx="761292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3200" b="1" spc="-1" dirty="0">
                <a:solidFill>
                  <a:schemeClr val="dk1"/>
                </a:solidFill>
                <a:latin typeface="Arial"/>
              </a:rPr>
              <a:t>N</a:t>
            </a:r>
            <a:r>
              <a:rPr lang="hu-HU" sz="3200" b="1" strike="noStrike" spc="-1" dirty="0" smtClean="0">
                <a:solidFill>
                  <a:schemeClr val="dk1"/>
                </a:solidFill>
                <a:latin typeface="Arial"/>
              </a:rPr>
              <a:t>em 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szükséges megelőző regisztráció</a:t>
            </a:r>
            <a:endParaRPr lang="hu-HU" sz="3200" b="1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3200" b="1" spc="-1" dirty="0">
                <a:solidFill>
                  <a:schemeClr val="dk1"/>
                </a:solidFill>
                <a:latin typeface="Arial"/>
              </a:rPr>
              <a:t>K</a:t>
            </a:r>
            <a:r>
              <a:rPr lang="hu-HU" sz="3200" b="1" strike="noStrike" spc="-1" dirty="0" smtClean="0">
                <a:solidFill>
                  <a:schemeClr val="dk1"/>
                </a:solidFill>
                <a:latin typeface="Arial"/>
              </a:rPr>
              <a:t>önnyen 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kezelhető menüpontok</a:t>
            </a:r>
            <a:endParaRPr lang="hu-HU" sz="3200" b="1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3200" b="1" spc="-1" dirty="0">
                <a:solidFill>
                  <a:schemeClr val="dk1"/>
                </a:solidFill>
                <a:latin typeface="Arial"/>
              </a:rPr>
              <a:t>N</a:t>
            </a:r>
            <a:r>
              <a:rPr lang="hu-HU" sz="3200" b="1" strike="noStrike" spc="-1" dirty="0" smtClean="0">
                <a:solidFill>
                  <a:schemeClr val="dk1"/>
                </a:solidFill>
                <a:latin typeface="Arial"/>
              </a:rPr>
              <a:t>agy 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választék, több kategóriában </a:t>
            </a:r>
            <a:endParaRPr lang="hu-HU" sz="3200" b="1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3200" b="1" spc="-1" dirty="0">
                <a:solidFill>
                  <a:schemeClr val="dk1"/>
                </a:solidFill>
                <a:latin typeface="Arial"/>
              </a:rPr>
              <a:t>A</a:t>
            </a:r>
            <a:r>
              <a:rPr lang="hu-HU" sz="3200" b="1" strike="noStrike" spc="-1" dirty="0" smtClean="0">
                <a:solidFill>
                  <a:schemeClr val="dk1"/>
                </a:solidFill>
                <a:latin typeface="Arial"/>
              </a:rPr>
              <a:t>kciós 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termékek</a:t>
            </a:r>
            <a:endParaRPr lang="hu-HU" sz="3200" b="1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3200" b="1" spc="-1" dirty="0">
                <a:solidFill>
                  <a:schemeClr val="dk1"/>
                </a:solidFill>
                <a:latin typeface="Arial"/>
              </a:rPr>
              <a:t>G</a:t>
            </a:r>
            <a:r>
              <a:rPr lang="hu-HU" sz="3200" b="1" strike="noStrike" spc="-1" dirty="0" smtClean="0">
                <a:solidFill>
                  <a:schemeClr val="dk1"/>
                </a:solidFill>
                <a:latin typeface="Arial"/>
              </a:rPr>
              <a:t>yors 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kiszállítás  </a:t>
            </a:r>
            <a:endParaRPr lang="hu-HU" sz="3200" b="1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hu-HU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Picture 2" descr="File:Information.svg - Wikimedia Commons"/>
          <p:cNvPicPr/>
          <p:nvPr/>
        </p:nvPicPr>
        <p:blipFill>
          <a:blip r:embed="rId2"/>
          <a:stretch/>
        </p:blipFill>
        <p:spPr>
          <a:xfrm>
            <a:off x="604595" y="4732471"/>
            <a:ext cx="1850040" cy="1850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94426" y="767742"/>
            <a:ext cx="6570720" cy="104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>
                <a:latin typeface="Gill Sans MT"/>
              </a:rPr>
              <a:t>Használt alkalmazások:</a:t>
            </a:r>
            <a:endParaRPr lang="hu-HU" sz="32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7994233" y="5930170"/>
            <a:ext cx="856907" cy="669925"/>
          </a:xfrm>
        </p:spPr>
        <p:txBody>
          <a:bodyPr/>
          <a:lstStyle/>
          <a:p>
            <a:fld id="{1E4ABEF0-618E-4C19-89E6-764625B8A5A2}" type="slidenum">
              <a:rPr sz="4000" b="1">
                <a:solidFill>
                  <a:schemeClr val="tx1"/>
                </a:solidFill>
              </a:rPr>
              <a:t>7</a:t>
            </a:fld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106" name="Szövegdoboz 7"/>
          <p:cNvSpPr/>
          <p:nvPr/>
        </p:nvSpPr>
        <p:spPr>
          <a:xfrm>
            <a:off x="394426" y="1886760"/>
            <a:ext cx="738000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A projektmunkánk 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Bootstrap</a:t>
            </a: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 framework-öt használ, 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jQuery</a:t>
            </a: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 támogatással. 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Php, Java </a:t>
            </a: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script, 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Html 5</a:t>
            </a: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,</a:t>
            </a:r>
            <a:endParaRPr lang="hu-HU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CSS</a:t>
            </a: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Apach</a:t>
            </a: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eChart,</a:t>
            </a: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Mysql </a:t>
            </a: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programnyelveken íródott</a:t>
            </a:r>
            <a:r>
              <a:rPr lang="hu-HU" sz="3200" b="0" strike="noStrike" spc="-1" dirty="0" smtClean="0">
                <a:solidFill>
                  <a:schemeClr val="dk1"/>
                </a:solidFill>
                <a:latin typeface="Arial"/>
              </a:rPr>
              <a:t>, valamint 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WYSIWYG</a:t>
            </a: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 Html editor (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Ckeditor</a:t>
            </a: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) lett beillesztve programunkba.</a:t>
            </a:r>
            <a:endParaRPr lang="hu-HU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443600" y="548640"/>
            <a:ext cx="6570720" cy="10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>
                <a:latin typeface="Gill Sans MT"/>
              </a:rPr>
              <a:t>A projektmunka kezelőfelülete:</a:t>
            </a:r>
            <a:endParaRPr lang="hu-HU" sz="32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8014320" y="5886209"/>
            <a:ext cx="856907" cy="669925"/>
          </a:xfrm>
        </p:spPr>
        <p:txBody>
          <a:bodyPr/>
          <a:lstStyle/>
          <a:p>
            <a:fld id="{CE7E0638-F07B-41E4-9CA9-63A01124A579}" type="slidenum">
              <a:rPr sz="4000" b="1">
                <a:solidFill>
                  <a:schemeClr val="tx1"/>
                </a:solidFill>
              </a:rPr>
              <a:t>8</a:t>
            </a:fld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109" name="Szövegdoboz 7"/>
          <p:cNvSpPr/>
          <p:nvPr/>
        </p:nvSpPr>
        <p:spPr>
          <a:xfrm>
            <a:off x="346556" y="1574640"/>
            <a:ext cx="7272000" cy="411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hu-HU" sz="3200" b="1" u="sng" strike="noStrike" spc="-1" dirty="0">
                <a:solidFill>
                  <a:schemeClr val="dk1"/>
                </a:solidFill>
                <a:uFillTx/>
                <a:latin typeface="Arial"/>
              </a:rPr>
              <a:t>7 részből épül fel:</a:t>
            </a:r>
            <a:endParaRPr lang="hu-HU" sz="3200" b="0" strike="noStrike" spc="-1" dirty="0">
              <a:solidFill>
                <a:srgbClr val="000000"/>
              </a:solidFill>
              <a:latin typeface="Arial"/>
            </a:endParaRPr>
          </a:p>
          <a:p>
            <a:pPr marL="971640" lvl="1" indent="-514440" algn="just" defTabSz="457200">
              <a:lnSpc>
                <a:spcPct val="100000"/>
              </a:lnSpc>
              <a:buClr>
                <a:srgbClr val="000000"/>
              </a:buClr>
              <a:buFont typeface="Gill Sans MT"/>
              <a:buAutoNum type="arabicPeriod"/>
            </a:pP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Fejléc : </a:t>
            </a:r>
            <a:endParaRPr lang="hu-HU" sz="3200" b="1" strike="noStrike" spc="-1" dirty="0">
              <a:solidFill>
                <a:srgbClr val="000000"/>
              </a:solidFill>
              <a:latin typeface="Arial"/>
            </a:endParaRPr>
          </a:p>
          <a:p>
            <a:pPr marL="1371600" lvl="2" indent="-457200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Oldal </a:t>
            </a:r>
            <a:r>
              <a:rPr lang="hu-HU" sz="3200" b="0" strike="noStrike" spc="-1" dirty="0" smtClean="0">
                <a:solidFill>
                  <a:schemeClr val="dk1"/>
                </a:solidFill>
                <a:latin typeface="Arial"/>
              </a:rPr>
              <a:t>fő menük </a:t>
            </a: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: </a:t>
            </a:r>
            <a:endParaRPr lang="hu-HU" sz="32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indent="-457200"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hu-HU" sz="2400" b="0" i="1" strike="noStrike" spc="-1" dirty="0">
                <a:solidFill>
                  <a:schemeClr val="dk1"/>
                </a:solidFill>
                <a:latin typeface="Arial"/>
              </a:rPr>
              <a:t>(kezdőlap, kapcsolat, rólunk, üzletünk, vásárlás )</a:t>
            </a:r>
            <a:endParaRPr lang="hu-HU" sz="2400" b="0" i="1" strike="noStrike" spc="-1" dirty="0">
              <a:solidFill>
                <a:srgbClr val="000000"/>
              </a:solidFill>
              <a:latin typeface="Arial"/>
            </a:endParaRPr>
          </a:p>
          <a:p>
            <a:pPr marL="1371600" lvl="2" indent="-457200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u-HU" sz="3200" spc="-1" dirty="0">
                <a:solidFill>
                  <a:schemeClr val="dk1"/>
                </a:solidFill>
                <a:latin typeface="Arial"/>
              </a:rPr>
              <a:t>K</a:t>
            </a:r>
            <a:r>
              <a:rPr lang="hu-HU" sz="3200" b="0" strike="noStrike" spc="-1" dirty="0" smtClean="0">
                <a:solidFill>
                  <a:schemeClr val="dk1"/>
                </a:solidFill>
                <a:latin typeface="Arial"/>
              </a:rPr>
              <a:t>eresés </a:t>
            </a:r>
            <a:r>
              <a:rPr lang="hu-HU" sz="3200" b="0" i="1" strike="noStrike" spc="-1" dirty="0">
                <a:solidFill>
                  <a:schemeClr val="dk1"/>
                </a:solidFill>
                <a:latin typeface="Arial"/>
              </a:rPr>
              <a:t>(online keresés) </a:t>
            </a:r>
            <a:endParaRPr lang="hu-HU" sz="3200" b="0" i="1" strike="noStrike" spc="-1" dirty="0">
              <a:solidFill>
                <a:srgbClr val="000000"/>
              </a:solidFill>
              <a:latin typeface="Arial"/>
            </a:endParaRPr>
          </a:p>
          <a:p>
            <a:pPr marL="1371600" lvl="2" indent="-457200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u-HU" sz="3200" spc="-1" dirty="0">
                <a:solidFill>
                  <a:schemeClr val="dk1"/>
                </a:solidFill>
                <a:latin typeface="Arial"/>
              </a:rPr>
              <a:t>B</a:t>
            </a:r>
            <a:r>
              <a:rPr lang="hu-HU" sz="3200" b="0" strike="noStrike" spc="-1" dirty="0" smtClean="0">
                <a:solidFill>
                  <a:schemeClr val="dk1"/>
                </a:solidFill>
                <a:latin typeface="Arial"/>
              </a:rPr>
              <a:t>ővülő </a:t>
            </a: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Admin menüsorral.</a:t>
            </a:r>
            <a:endParaRPr lang="hu-HU" sz="3200" b="0" strike="noStrike" spc="-1" dirty="0">
              <a:solidFill>
                <a:srgbClr val="000000"/>
              </a:solidFill>
              <a:latin typeface="Arial"/>
            </a:endParaRPr>
          </a:p>
          <a:p>
            <a:pPr marL="971640" lvl="1" indent="-514440" algn="just" defTabSz="457200">
              <a:lnSpc>
                <a:spcPct val="100000"/>
              </a:lnSpc>
              <a:buClr>
                <a:srgbClr val="000000"/>
              </a:buClr>
              <a:buFont typeface="Gill Sans MT"/>
              <a:buAutoNum type="arabicPeriod" startAt="2"/>
              <a:tabLst>
                <a:tab pos="0" algn="l"/>
              </a:tabLst>
            </a:pP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Kosár funkció:</a:t>
            </a:r>
            <a:endParaRPr lang="hu-HU" sz="3200" b="1" strike="noStrike" spc="-1" dirty="0">
              <a:solidFill>
                <a:srgbClr val="000000"/>
              </a:solidFill>
              <a:latin typeface="Arial"/>
            </a:endParaRPr>
          </a:p>
          <a:p>
            <a:pPr marL="1257300" lvl="2" indent="-342900" algn="ctr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u-HU" sz="2400" b="0" strike="noStrike" spc="-1" dirty="0">
                <a:solidFill>
                  <a:schemeClr val="dk1"/>
                </a:solidFill>
                <a:latin typeface="Arial"/>
              </a:rPr>
              <a:t>Állapot jelzés ,hozzáadás, elvevés, törlés, rendelés leadás.</a:t>
            </a:r>
            <a:endParaRPr lang="hu-HU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2"/>
          <p:cNvSpPr>
            <a:spLocks noGrp="1"/>
          </p:cNvSpPr>
          <p:nvPr>
            <p:ph type="title"/>
          </p:nvPr>
        </p:nvSpPr>
        <p:spPr>
          <a:xfrm>
            <a:off x="-17308" y="607293"/>
            <a:ext cx="4277588" cy="104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000"/>
          </a:bodyPr>
          <a:lstStyle/>
          <a:p>
            <a:pPr indent="0" algn="ctr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>
                <a:latin typeface="Gill Sans MT"/>
              </a:rPr>
              <a:t>A projektmunka kezelőfelülete:</a:t>
            </a:r>
            <a:r>
              <a:rPr sz="3200" dirty="0"/>
              <a:t/>
            </a:r>
            <a:br>
              <a:rPr sz="3200" dirty="0"/>
            </a:br>
            <a:endParaRPr lang="hu-HU" sz="32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7983720" y="5868625"/>
            <a:ext cx="856907" cy="669925"/>
          </a:xfrm>
        </p:spPr>
        <p:txBody>
          <a:bodyPr/>
          <a:lstStyle/>
          <a:p>
            <a:fld id="{9C1A433C-D800-476C-8AFE-DFFCE433C36F}" type="slidenum">
              <a:rPr sz="4000" b="1">
                <a:solidFill>
                  <a:schemeClr val="tx1"/>
                </a:solidFill>
              </a:rPr>
              <a:t>9</a:t>
            </a:fld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111" name="Szövegdoboz 7"/>
          <p:cNvSpPr/>
          <p:nvPr/>
        </p:nvSpPr>
        <p:spPr>
          <a:xfrm>
            <a:off x="347206" y="1532880"/>
            <a:ext cx="7272000" cy="38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514440" indent="-514440" algn="just" defTabSz="457200">
              <a:buClr>
                <a:srgbClr val="000000"/>
              </a:buClr>
              <a:buFont typeface="Gill Sans MT"/>
              <a:buAutoNum type="arabicPeriod" startAt="3"/>
            </a:pP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Termék menü:</a:t>
            </a:r>
            <a:endParaRPr lang="hu-HU" sz="3200" b="1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457200" defTabSz="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Italkategóriák </a:t>
            </a:r>
            <a:endParaRPr lang="hu-HU" sz="3200" b="0" strike="noStrike" spc="-1" dirty="0">
              <a:solidFill>
                <a:srgbClr val="000000"/>
              </a:solidFill>
              <a:latin typeface="Arial"/>
            </a:endParaRPr>
          </a:p>
          <a:p>
            <a:pPr marL="971640" indent="-514440"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hu-HU" sz="2400" b="0" i="1" strike="noStrike" spc="-1" dirty="0">
                <a:solidFill>
                  <a:schemeClr val="dk1"/>
                </a:solidFill>
                <a:latin typeface="Arial"/>
              </a:rPr>
              <a:t>(belekattintva </a:t>
            </a:r>
            <a:r>
              <a:rPr lang="hu-HU" sz="2400" b="0" i="1" strike="noStrike" spc="-1" dirty="0" smtClean="0">
                <a:solidFill>
                  <a:schemeClr val="dk1"/>
                </a:solidFill>
                <a:latin typeface="Arial"/>
              </a:rPr>
              <a:t>kilistázódnak </a:t>
            </a:r>
            <a:r>
              <a:rPr lang="hu-HU" sz="2400" b="0" i="1" strike="noStrike" spc="-1" dirty="0">
                <a:solidFill>
                  <a:schemeClr val="dk1"/>
                </a:solidFill>
                <a:latin typeface="Arial"/>
              </a:rPr>
              <a:t>a termékek)</a:t>
            </a:r>
            <a:endParaRPr lang="hu-HU" sz="2400" b="0" i="1" strike="noStrike" spc="-1" dirty="0">
              <a:solidFill>
                <a:srgbClr val="000000"/>
              </a:solidFill>
              <a:latin typeface="Arial"/>
            </a:endParaRPr>
          </a:p>
          <a:p>
            <a:pPr marL="971640" lvl="1" indent="-514440" algn="just" defTabSz="457200">
              <a:lnSpc>
                <a:spcPct val="100000"/>
              </a:lnSpc>
              <a:buClr>
                <a:srgbClr val="000000"/>
              </a:buClr>
              <a:buFont typeface="Gill Sans MT"/>
              <a:buAutoNum type="arabicPeriod" startAt="4"/>
              <a:tabLst>
                <a:tab pos="0" algn="l"/>
              </a:tabLst>
            </a:pP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Középső konténer:</a:t>
            </a:r>
            <a:endParaRPr lang="hu-HU" sz="3200" b="1" strike="noStrike" spc="-1" dirty="0">
              <a:solidFill>
                <a:srgbClr val="000000"/>
              </a:solidFill>
              <a:latin typeface="Arial"/>
            </a:endParaRPr>
          </a:p>
          <a:p>
            <a:pPr marL="1371600" lvl="2" indent="-4572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u-HU" sz="3200" b="0" strike="noStrike" spc="-1" dirty="0">
                <a:solidFill>
                  <a:schemeClr val="dk1"/>
                </a:solidFill>
                <a:latin typeface="Arial"/>
              </a:rPr>
              <a:t>Változó tartalom megjelenítés. </a:t>
            </a:r>
            <a:endParaRPr lang="hu-HU" sz="3200" b="0" strike="noStrike" spc="-1" dirty="0">
              <a:solidFill>
                <a:srgbClr val="000000"/>
              </a:solidFill>
              <a:latin typeface="Arial"/>
            </a:endParaRPr>
          </a:p>
          <a:p>
            <a:pPr marL="1428840" indent="-514440" defTabSz="457200">
              <a:lnSpc>
                <a:spcPct val="100000"/>
              </a:lnSpc>
              <a:tabLst>
                <a:tab pos="0" algn="l"/>
              </a:tabLst>
            </a:pPr>
            <a:r>
              <a:rPr lang="hu-HU" sz="2400" b="0" i="1" strike="noStrike" spc="-1" dirty="0">
                <a:solidFill>
                  <a:schemeClr val="dk1"/>
                </a:solidFill>
                <a:latin typeface="Arial"/>
              </a:rPr>
              <a:t>(minden változó tartalom ide </a:t>
            </a:r>
            <a:r>
              <a:rPr lang="hu-HU" sz="2400" b="0" i="1" strike="noStrike" spc="-1" dirty="0" err="1">
                <a:solidFill>
                  <a:schemeClr val="dk1"/>
                </a:solidFill>
                <a:latin typeface="Arial"/>
              </a:rPr>
              <a:t>hívódik</a:t>
            </a:r>
            <a:r>
              <a:rPr lang="hu-HU" sz="2400" b="0" i="1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hu-HU" sz="2400" b="0" i="1" strike="noStrike" spc="-1" dirty="0" smtClean="0">
                <a:solidFill>
                  <a:schemeClr val="dk1"/>
                </a:solidFill>
                <a:latin typeface="Arial"/>
              </a:rPr>
              <a:t>be:</a:t>
            </a:r>
            <a:endParaRPr lang="hu-HU" sz="2400" b="0" i="1" strike="noStrike" spc="-1" dirty="0">
              <a:solidFill>
                <a:srgbClr val="000000"/>
              </a:solidFill>
              <a:latin typeface="Arial"/>
            </a:endParaRPr>
          </a:p>
          <a:p>
            <a:pPr marL="1428840" indent="-514440" defTabSz="457200">
              <a:lnSpc>
                <a:spcPct val="100000"/>
              </a:lnSpc>
              <a:tabLst>
                <a:tab pos="0" algn="l"/>
              </a:tabLst>
            </a:pPr>
            <a:r>
              <a:rPr lang="hu-HU" sz="2400" b="0" i="1" strike="noStrike" spc="-1" dirty="0">
                <a:solidFill>
                  <a:schemeClr val="dk1"/>
                </a:solidFill>
                <a:latin typeface="Arial"/>
              </a:rPr>
              <a:t>termék lista, termék adatlap</a:t>
            </a:r>
            <a:r>
              <a:rPr lang="hu-HU" sz="2400" b="0" i="1" strike="noStrike" spc="-1" dirty="0" smtClean="0">
                <a:solidFill>
                  <a:schemeClr val="dk1"/>
                </a:solidFill>
                <a:latin typeface="Arial"/>
              </a:rPr>
              <a:t>, oldal </a:t>
            </a:r>
            <a:r>
              <a:rPr lang="hu-HU" sz="2400" b="0" i="1" strike="noStrike" spc="-1" dirty="0">
                <a:solidFill>
                  <a:schemeClr val="dk1"/>
                </a:solidFill>
                <a:latin typeface="Arial"/>
              </a:rPr>
              <a:t>tartalmak, Admin szerkesztői részek, Rózsa diagram, rendelés leadás stb.)</a:t>
            </a:r>
            <a:endParaRPr lang="hu-HU" sz="2400" b="0" i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zövegdoboz 5"/>
          <p:cNvSpPr/>
          <p:nvPr/>
        </p:nvSpPr>
        <p:spPr>
          <a:xfrm>
            <a:off x="944280" y="4919760"/>
            <a:ext cx="70394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hu-HU" sz="3200" b="0" strike="noStrike" spc="-1">
                <a:solidFill>
                  <a:schemeClr val="dk1"/>
                </a:solidFill>
                <a:latin typeface="Arial"/>
              </a:rPr>
              <a:t>  </a:t>
            </a:r>
            <a:endParaRPr lang="hu-H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2"/>
          <p:cNvSpPr>
            <a:spLocks noGrp="1"/>
          </p:cNvSpPr>
          <p:nvPr>
            <p:ph type="title"/>
          </p:nvPr>
        </p:nvSpPr>
        <p:spPr>
          <a:xfrm>
            <a:off x="61547" y="565639"/>
            <a:ext cx="4204390" cy="103456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000"/>
          </a:bodyPr>
          <a:lstStyle/>
          <a:p>
            <a:pPr indent="0" algn="ctr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>
                <a:latin typeface="Gill Sans MT"/>
              </a:rPr>
              <a:t>A projektmunka kezelőfelülete:</a:t>
            </a:r>
            <a:r>
              <a:rPr sz="3200" dirty="0"/>
              <a:t/>
            </a:r>
            <a:br>
              <a:rPr sz="3200" dirty="0"/>
            </a:br>
            <a:endParaRPr lang="hu-HU" sz="3200" b="0" strike="noStrike" spc="-1" dirty="0"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idx="1"/>
          </p:nvPr>
        </p:nvSpPr>
        <p:spPr>
          <a:xfrm>
            <a:off x="-139015" y="1672740"/>
            <a:ext cx="6570720" cy="322198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20000"/>
          </a:bodyPr>
          <a:lstStyle/>
          <a:p>
            <a:pPr marL="971640" lvl="1" indent="-514440" algn="just" defTabSz="6858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Gill Sans MT"/>
              <a:buAutoNum type="arabicPeriod" startAt="5"/>
            </a:pPr>
            <a:r>
              <a:rPr lang="hu-HU" sz="3200" b="1" strike="noStrike" spc="-1" dirty="0" err="1">
                <a:solidFill>
                  <a:schemeClr val="dk1"/>
                </a:solidFill>
                <a:latin typeface="Arial"/>
              </a:rPr>
              <a:t>Slide</a:t>
            </a: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hu-HU" sz="3200" b="1" strike="noStrike" spc="-1" dirty="0" smtClean="0">
                <a:solidFill>
                  <a:schemeClr val="dk1"/>
                </a:solidFill>
                <a:latin typeface="Arial"/>
              </a:rPr>
              <a:t>Show: </a:t>
            </a:r>
          </a:p>
          <a:p>
            <a:pPr marL="457200" lvl="1" indent="0" defTabSz="6858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None/>
            </a:pPr>
            <a:r>
              <a:rPr lang="hu-HU" sz="3200" dirty="0" smtClean="0">
                <a:solidFill>
                  <a:schemeClr val="tx1"/>
                </a:solidFill>
              </a:rPr>
              <a:t>Három </a:t>
            </a:r>
            <a:r>
              <a:rPr lang="hu-HU" sz="3200" dirty="0">
                <a:solidFill>
                  <a:schemeClr val="tx1"/>
                </a:solidFill>
              </a:rPr>
              <a:t>különböző képen keresztül mutatjuk be weboldalunk </a:t>
            </a:r>
            <a:r>
              <a:rPr lang="hu-HU" sz="3200" b="1" dirty="0">
                <a:solidFill>
                  <a:schemeClr val="tx1"/>
                </a:solidFill>
              </a:rPr>
              <a:t>új, </a:t>
            </a:r>
            <a:r>
              <a:rPr lang="hu-HU" sz="3200" b="1" dirty="0" err="1">
                <a:solidFill>
                  <a:schemeClr val="tx1"/>
                </a:solidFill>
              </a:rPr>
              <a:t>reszponzív</a:t>
            </a:r>
            <a:r>
              <a:rPr lang="hu-HU" sz="3200" b="1" dirty="0">
                <a:solidFill>
                  <a:schemeClr val="tx1"/>
                </a:solidFill>
              </a:rPr>
              <a:t> dizájnját</a:t>
            </a:r>
            <a:r>
              <a:rPr lang="hu-HU" sz="3200" dirty="0">
                <a:solidFill>
                  <a:schemeClr val="tx1"/>
                </a:solidFill>
              </a:rPr>
              <a:t>. A képek kattintásra változnak, lehetőséget adva a weboldal különböző funkcióinak és megjelenésének felfedezésére.</a:t>
            </a:r>
            <a:endParaRPr lang="hu-HU" sz="3200" b="1" strike="noStrike" spc="-1" dirty="0" smtClean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8055780" y="5956547"/>
            <a:ext cx="856907" cy="669925"/>
          </a:xfrm>
        </p:spPr>
        <p:txBody>
          <a:bodyPr/>
          <a:lstStyle/>
          <a:p>
            <a:fld id="{A6CF810C-F543-4000-A617-574979B8BD0C}" type="slidenum">
              <a:rPr sz="4000" b="1">
                <a:solidFill>
                  <a:schemeClr val="tx1"/>
                </a:solidFill>
              </a:rPr>
              <a:t>10</a:t>
            </a:fld>
            <a:endParaRPr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10308" y="776654"/>
            <a:ext cx="5102469" cy="116644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>
                <a:latin typeface="Gill Sans MT"/>
              </a:rPr>
              <a:t>A projektmunka kezelőfelülete:</a:t>
            </a:r>
            <a:endParaRPr lang="hu-HU" sz="3200" b="0" strike="noStrike" spc="-1" dirty="0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idx="1"/>
          </p:nvPr>
        </p:nvSpPr>
        <p:spPr>
          <a:xfrm>
            <a:off x="0" y="2036285"/>
            <a:ext cx="6570720" cy="322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0000"/>
          </a:bodyPr>
          <a:lstStyle/>
          <a:p>
            <a:pPr marL="1200240" lvl="1" indent="-743040" algn="just" defTabSz="457200">
              <a:lnSpc>
                <a:spcPct val="100000"/>
              </a:lnSpc>
              <a:buClr>
                <a:srgbClr val="000000"/>
              </a:buClr>
              <a:buFont typeface="Gill Sans MT"/>
              <a:buAutoNum type="arabicPeriod" startAt="6"/>
            </a:pPr>
            <a:r>
              <a:rPr lang="hu-HU" sz="3200" b="1" strike="noStrike" spc="-1" dirty="0">
                <a:solidFill>
                  <a:srgbClr val="000000"/>
                </a:solidFill>
                <a:latin typeface="Arial"/>
              </a:rPr>
              <a:t>Véletlen termék boksz</a:t>
            </a:r>
            <a:r>
              <a:rPr lang="hu-HU" sz="3200" b="0" strike="noStrike" spc="-1" dirty="0" smtClean="0">
                <a:solidFill>
                  <a:srgbClr val="000000"/>
                </a:solidFill>
                <a:latin typeface="Arial"/>
              </a:rPr>
              <a:t>:</a:t>
            </a:r>
          </a:p>
          <a:p>
            <a:pPr lvl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</a:rPr>
              <a:t>Három </a:t>
            </a:r>
            <a:r>
              <a:rPr lang="hu-HU" sz="2400" b="1" dirty="0">
                <a:solidFill>
                  <a:schemeClr val="tx1"/>
                </a:solidFill>
              </a:rPr>
              <a:t>véletlenszerű termék megjelenítése</a:t>
            </a:r>
            <a:r>
              <a:rPr lang="hu-HU" sz="2400" dirty="0">
                <a:solidFill>
                  <a:schemeClr val="tx1"/>
                </a:solidFill>
              </a:rPr>
              <a:t>, amelyek az adatlapjukra mutató linkkel elérhetők.</a:t>
            </a:r>
            <a:endParaRPr lang="hu-HU" sz="2400" b="0" strike="noStrike" spc="-1" dirty="0" smtClean="0">
              <a:solidFill>
                <a:schemeClr val="tx1"/>
              </a:solidFill>
              <a:latin typeface="Arial"/>
            </a:endParaRPr>
          </a:p>
          <a:p>
            <a:pPr marL="457200" lvl="1" indent="0" algn="just" defTabSz="457200">
              <a:lnSpc>
                <a:spcPct val="100000"/>
              </a:lnSpc>
              <a:buClr>
                <a:srgbClr val="000000"/>
              </a:buClr>
              <a:buNone/>
            </a:pPr>
            <a:endParaRPr lang="hu-HU" sz="3200" b="0" strike="noStrike" spc="-1" dirty="0">
              <a:solidFill>
                <a:srgbClr val="000000"/>
              </a:solidFill>
              <a:latin typeface="Arial"/>
            </a:endParaRPr>
          </a:p>
          <a:p>
            <a:pPr marL="1200240" lvl="1" indent="-743040" algn="just" defTabSz="457200">
              <a:lnSpc>
                <a:spcPct val="100000"/>
              </a:lnSpc>
              <a:buClr>
                <a:srgbClr val="000000"/>
              </a:buClr>
              <a:buFont typeface="Gill Sans MT"/>
              <a:buAutoNum type="arabicPeriod" startAt="7"/>
            </a:pPr>
            <a:r>
              <a:rPr lang="hu-HU" sz="3200" b="1" strike="noStrike" spc="-1" dirty="0">
                <a:solidFill>
                  <a:schemeClr val="tx1"/>
                </a:solidFill>
                <a:latin typeface="Arial"/>
              </a:rPr>
              <a:t>Lábléc</a:t>
            </a:r>
            <a:r>
              <a:rPr lang="hu-HU" sz="3200" b="0" strike="noStrike" spc="-1" dirty="0" smtClean="0">
                <a:solidFill>
                  <a:srgbClr val="000000"/>
                </a:solidFill>
                <a:latin typeface="Arial"/>
              </a:rPr>
              <a:t>:</a:t>
            </a:r>
          </a:p>
          <a:p>
            <a:pPr lvl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</a:rPr>
              <a:t>E</a:t>
            </a:r>
            <a:r>
              <a:rPr lang="hu-HU" sz="2400" dirty="0" smtClean="0">
                <a:solidFill>
                  <a:schemeClr val="tx1"/>
                </a:solidFill>
              </a:rPr>
              <a:t>lérhetők </a:t>
            </a:r>
            <a:r>
              <a:rPr lang="hu-HU" sz="2400" b="1" dirty="0">
                <a:solidFill>
                  <a:schemeClr val="tx1"/>
                </a:solidFill>
              </a:rPr>
              <a:t>közösségi</a:t>
            </a:r>
            <a:r>
              <a:rPr lang="hu-HU" sz="2400" dirty="0">
                <a:solidFill>
                  <a:schemeClr val="tx1"/>
                </a:solidFill>
              </a:rPr>
              <a:t> oldalaink</a:t>
            </a:r>
            <a:endParaRPr lang="hu-HU" sz="2400" b="0" strike="noStrike" spc="-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8020610" y="5903793"/>
            <a:ext cx="856907" cy="669925"/>
          </a:xfrm>
        </p:spPr>
        <p:txBody>
          <a:bodyPr/>
          <a:lstStyle/>
          <a:p>
            <a:fld id="{5D750D95-8BA9-4A90-8AB6-F5107E8ACFF7}" type="slidenum">
              <a:rPr sz="4000" b="1">
                <a:solidFill>
                  <a:schemeClr val="tx1"/>
                </a:solidFill>
              </a:rPr>
              <a:t>11</a:t>
            </a:fld>
            <a:endParaRPr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22385" y="1057800"/>
            <a:ext cx="2983523" cy="70066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>
                <a:latin typeface="Gill Sans MT"/>
              </a:rPr>
              <a:t>Weboldal</a:t>
            </a:r>
            <a:endParaRPr lang="hu-HU" sz="32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8082157" y="5974132"/>
            <a:ext cx="856907" cy="669925"/>
          </a:xfrm>
        </p:spPr>
        <p:txBody>
          <a:bodyPr/>
          <a:lstStyle/>
          <a:p>
            <a:fld id="{1CB6EB2B-3BC1-46AA-9114-7BB5D554988B}" type="slidenum">
              <a:rPr sz="4000" b="1">
                <a:solidFill>
                  <a:schemeClr val="tx1"/>
                </a:solidFill>
              </a:rPr>
              <a:t>12</a:t>
            </a:fld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131" name="Szövegdoboz 6"/>
          <p:cNvSpPr/>
          <p:nvPr/>
        </p:nvSpPr>
        <p:spPr>
          <a:xfrm>
            <a:off x="322385" y="1758462"/>
            <a:ext cx="7488000" cy="18144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hu-HU" sz="2800" dirty="0"/>
              <a:t>Vizsgaremekünk </a:t>
            </a:r>
            <a:r>
              <a:rPr lang="hu-HU" sz="2800" b="1" dirty="0" err="1"/>
              <a:t>reszponzív</a:t>
            </a:r>
            <a:r>
              <a:rPr lang="hu-HU" sz="2800" dirty="0"/>
              <a:t>, megfelel a modern</a:t>
            </a:r>
            <a:r>
              <a:rPr lang="hu-HU" sz="2800" b="1" dirty="0"/>
              <a:t> böngészők szabványainak</a:t>
            </a:r>
            <a:r>
              <a:rPr lang="hu-HU" sz="2800" dirty="0"/>
              <a:t>, így </a:t>
            </a:r>
            <a:r>
              <a:rPr lang="hu-HU" sz="2800" b="1" dirty="0"/>
              <a:t>mobil eszközökön</a:t>
            </a:r>
            <a:r>
              <a:rPr lang="hu-HU" sz="2800" dirty="0"/>
              <a:t> és </a:t>
            </a:r>
            <a:r>
              <a:rPr lang="hu-HU" sz="2800" b="1" dirty="0"/>
              <a:t>asztali gépeken </a:t>
            </a:r>
            <a:r>
              <a:rPr lang="hu-HU" sz="2800" dirty="0"/>
              <a:t>egyaránt használható.</a:t>
            </a:r>
            <a:endParaRPr lang="hu-H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Picture 2" descr="3 Things Great Websites Have in Common - AddThis"/>
          <p:cNvPicPr/>
          <p:nvPr/>
        </p:nvPicPr>
        <p:blipFill>
          <a:blip r:embed="rId2"/>
          <a:stretch/>
        </p:blipFill>
        <p:spPr>
          <a:xfrm>
            <a:off x="465821" y="3799514"/>
            <a:ext cx="5224712" cy="26354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4269" y="1274129"/>
            <a:ext cx="6554867" cy="62673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>
                <a:latin typeface="Gill Sans MT"/>
              </a:rPr>
              <a:t>Tesztelések:</a:t>
            </a:r>
            <a:endParaRPr lang="hu-HU" sz="3200" b="0" strike="noStrike" spc="-1" dirty="0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idx="1"/>
          </p:nvPr>
        </p:nvSpPr>
        <p:spPr>
          <a:xfrm>
            <a:off x="332762" y="2223591"/>
            <a:ext cx="6797879" cy="192706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hu-HU" sz="2000" dirty="0">
                <a:solidFill>
                  <a:schemeClr val="tx1"/>
                </a:solidFill>
              </a:rPr>
              <a:t>A rendszer működését </a:t>
            </a:r>
            <a:r>
              <a:rPr lang="hu-HU" sz="2000" b="1" dirty="0">
                <a:solidFill>
                  <a:schemeClr val="tx1"/>
                </a:solidFill>
              </a:rPr>
              <a:t>több böngészőkörnyezetben</a:t>
            </a:r>
            <a:r>
              <a:rPr lang="hu-HU" sz="2000" dirty="0">
                <a:solidFill>
                  <a:schemeClr val="tx1"/>
                </a:solidFill>
              </a:rPr>
              <a:t> és </a:t>
            </a:r>
            <a:r>
              <a:rPr lang="hu-HU" sz="2000" b="1" dirty="0">
                <a:solidFill>
                  <a:schemeClr val="tx1"/>
                </a:solidFill>
              </a:rPr>
              <a:t>különböző operációs rendszereken </a:t>
            </a:r>
            <a:r>
              <a:rPr lang="hu-HU" sz="2000" dirty="0">
                <a:solidFill>
                  <a:schemeClr val="tx1"/>
                </a:solidFill>
              </a:rPr>
              <a:t>is </a:t>
            </a:r>
            <a:r>
              <a:rPr lang="hu-HU" sz="2000" dirty="0" err="1">
                <a:solidFill>
                  <a:schemeClr val="tx1"/>
                </a:solidFill>
              </a:rPr>
              <a:t>validáltuk</a:t>
            </a:r>
            <a:r>
              <a:rPr lang="hu-HU" sz="2000" dirty="0">
                <a:solidFill>
                  <a:schemeClr val="tx1"/>
                </a:solidFill>
              </a:rPr>
              <a:t> a platformfüggetlenség és a funkcionális stabilitás ellenőrzése </a:t>
            </a:r>
            <a:r>
              <a:rPr lang="hu-HU" sz="2000" dirty="0" smtClean="0">
                <a:solidFill>
                  <a:schemeClr val="tx1"/>
                </a:solidFill>
              </a:rPr>
              <a:t>céljából.</a:t>
            </a:r>
            <a:endParaRPr lang="hu-HU" sz="2000" b="0" strike="noStrike" spc="-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8082156" y="5877416"/>
            <a:ext cx="856907" cy="669925"/>
          </a:xfrm>
        </p:spPr>
        <p:txBody>
          <a:bodyPr/>
          <a:lstStyle/>
          <a:p>
            <a:fld id="{4240982E-4F29-4E04-BF2C-CA99F2277716}" type="slidenum">
              <a:rPr sz="4000" b="1">
                <a:solidFill>
                  <a:schemeClr val="tx1"/>
                </a:solidFill>
              </a:rPr>
              <a:t>13</a:t>
            </a:fld>
            <a:endParaRPr sz="4000" b="1" dirty="0">
              <a:solidFill>
                <a:schemeClr val="tx1"/>
              </a:solidFill>
            </a:endParaRPr>
          </a:p>
        </p:txBody>
      </p:sp>
      <p:pic>
        <p:nvPicPr>
          <p:cNvPr id="2052" name="Picture 4" descr="Website Testing: A Detailed Guid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670" y="4150659"/>
            <a:ext cx="4285130" cy="196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83931" y="713400"/>
            <a:ext cx="6554867" cy="78129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>
                <a:latin typeface="Gill Sans MT"/>
              </a:rPr>
              <a:t>Böngészők:</a:t>
            </a:r>
            <a:endParaRPr lang="hu-HU" sz="3200" b="0" strike="noStrike" spc="-1" dirty="0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8126118" y="5947755"/>
            <a:ext cx="856907" cy="669925"/>
          </a:xfrm>
        </p:spPr>
        <p:txBody>
          <a:bodyPr/>
          <a:lstStyle/>
          <a:p>
            <a:fld id="{9DB20151-0661-47BA-8BA2-1F6388F786D1}" type="slidenum">
              <a:rPr sz="4000" b="1">
                <a:solidFill>
                  <a:schemeClr val="tx1"/>
                </a:solidFill>
              </a:rPr>
              <a:t>14</a:t>
            </a:fld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136" name="Szövegdoboz 6"/>
          <p:cNvSpPr/>
          <p:nvPr/>
        </p:nvSpPr>
        <p:spPr>
          <a:xfrm>
            <a:off x="202223" y="1371601"/>
            <a:ext cx="3195375" cy="20606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3200" b="1" strike="noStrike" spc="-1" dirty="0">
                <a:solidFill>
                  <a:schemeClr val="dk1"/>
                </a:solidFill>
                <a:latin typeface="Arial"/>
              </a:rPr>
              <a:t>Opera</a:t>
            </a:r>
            <a:endParaRPr lang="hu-HU" sz="3200" b="1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3200" b="1" strike="noStrike" spc="-1" dirty="0" smtClean="0">
                <a:solidFill>
                  <a:schemeClr val="dk1"/>
                </a:solidFill>
                <a:latin typeface="Arial"/>
              </a:rPr>
              <a:t>Chrome</a:t>
            </a:r>
          </a:p>
          <a:p>
            <a:pPr marL="457200" indent="-457200" defTabSz="457200">
              <a:buClr>
                <a:srgbClr val="000000"/>
              </a:buClr>
              <a:buFont typeface="Arial"/>
              <a:buChar char="•"/>
            </a:pPr>
            <a:r>
              <a:rPr lang="hu-HU" sz="3200" b="1" strike="noStrike" spc="-1" dirty="0" smtClean="0">
                <a:solidFill>
                  <a:schemeClr val="dk1"/>
                </a:solidFill>
                <a:latin typeface="Arial"/>
              </a:rPr>
              <a:t>Firefox</a:t>
            </a:r>
            <a:endParaRPr lang="hu-HU" sz="3200" b="1" strike="noStrike" spc="-1" dirty="0" smtClean="0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hu-HU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zövegdoboz 7"/>
          <p:cNvSpPr/>
          <p:nvPr/>
        </p:nvSpPr>
        <p:spPr>
          <a:xfrm>
            <a:off x="1520444" y="4379549"/>
            <a:ext cx="428184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u-HU" sz="3200" dirty="0" smtClean="0"/>
              <a:t>Korszerű </a:t>
            </a:r>
            <a:r>
              <a:rPr lang="hu-HU" sz="3200" dirty="0"/>
              <a:t>böngészőkön is zavartalanul működik.</a:t>
            </a:r>
            <a:endParaRPr lang="hu-HU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8" name="Picture 4" descr="Google Chrome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308135" y="1946513"/>
            <a:ext cx="397975" cy="39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pera logo - Social media &amp; Logos Ic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004921" y="1447097"/>
            <a:ext cx="416952" cy="41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oduct Identity Asset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921" y="2315870"/>
            <a:ext cx="701189" cy="701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ownload Coding, Computer, Computer User. Royalty-Free Vector Graphic -  Pixabay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813" y="1193679"/>
            <a:ext cx="2930739" cy="278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273724" y="660378"/>
            <a:ext cx="6554867" cy="78978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>
                <a:latin typeface="Gill Sans MT"/>
              </a:rPr>
              <a:t>A csapatmunkához:</a:t>
            </a:r>
            <a:endParaRPr lang="hu-HU" sz="32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8099742" y="5991716"/>
            <a:ext cx="856907" cy="669925"/>
          </a:xfrm>
        </p:spPr>
        <p:txBody>
          <a:bodyPr/>
          <a:lstStyle/>
          <a:p>
            <a:fld id="{608CA6D1-47B9-470B-9A45-31880B75CF00}" type="slidenum">
              <a:rPr sz="4000" b="1">
                <a:solidFill>
                  <a:schemeClr val="tx1"/>
                </a:solidFill>
              </a:rPr>
              <a:t>15</a:t>
            </a:fld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142" name="Szövegdoboz 6"/>
          <p:cNvSpPr/>
          <p:nvPr/>
        </p:nvSpPr>
        <p:spPr>
          <a:xfrm>
            <a:off x="273724" y="1292469"/>
            <a:ext cx="7739640" cy="31070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2800" b="1" strike="noStrike" spc="-1" dirty="0" smtClean="0">
                <a:solidFill>
                  <a:schemeClr val="dk1"/>
                </a:solidFill>
                <a:latin typeface="Arial"/>
              </a:rPr>
              <a:t>Online diskurzus</a:t>
            </a:r>
          </a:p>
          <a:p>
            <a:pPr defTabSz="457200">
              <a:lnSpc>
                <a:spcPct val="100000"/>
              </a:lnSpc>
              <a:buClr>
                <a:srgbClr val="000000"/>
              </a:buClr>
            </a:pPr>
            <a:endParaRPr lang="hu-HU" sz="2800" b="0" strike="noStrike" spc="-1" dirty="0" smtClean="0">
              <a:solidFill>
                <a:schemeClr val="dk1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2800" b="1" spc="-1" dirty="0" smtClean="0">
                <a:solidFill>
                  <a:schemeClr val="dk1"/>
                </a:solidFill>
                <a:latin typeface="Arial"/>
              </a:rPr>
              <a:t>Személyes találkozó</a:t>
            </a: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hu-HU" sz="2800" spc="-1" dirty="0" smtClean="0">
              <a:solidFill>
                <a:schemeClr val="dk1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2800" b="1" dirty="0"/>
              <a:t>Írásos </a:t>
            </a:r>
            <a:r>
              <a:rPr lang="hu-HU" sz="2800" b="1" dirty="0" smtClean="0"/>
              <a:t>kommunikáció</a:t>
            </a:r>
          </a:p>
          <a:p>
            <a:pPr defTabSz="457200">
              <a:lnSpc>
                <a:spcPct val="100000"/>
              </a:lnSpc>
              <a:buClr>
                <a:srgbClr val="000000"/>
              </a:buClr>
            </a:pPr>
            <a:r>
              <a:rPr lang="hu-HU" sz="2800" dirty="0" smtClean="0"/>
              <a:t> </a:t>
            </a: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2800" b="1" dirty="0"/>
              <a:t>Telefonhívás</a:t>
            </a:r>
            <a:endParaRPr lang="hu-HU" sz="2800" b="1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Picture 2" descr="17 ideas and tools to strengthen sharing and communication in organizations  - Thot Cursus"/>
          <p:cNvPicPr/>
          <p:nvPr/>
        </p:nvPicPr>
        <p:blipFill>
          <a:blip r:embed="rId2"/>
          <a:stretch/>
        </p:blipFill>
        <p:spPr>
          <a:xfrm>
            <a:off x="2034153" y="4542418"/>
            <a:ext cx="4384232" cy="2119223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313593" y="591180"/>
            <a:ext cx="6554867" cy="89426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1" strike="noStrike" cap="all" spc="-1" dirty="0">
                <a:latin typeface="Gill Sans MT"/>
              </a:rPr>
              <a:t>Elképzelt fejlesztések:</a:t>
            </a:r>
            <a:endParaRPr lang="hu-HU" sz="32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8122016" y="5947755"/>
            <a:ext cx="856907" cy="669925"/>
          </a:xfrm>
        </p:spPr>
        <p:txBody>
          <a:bodyPr/>
          <a:lstStyle/>
          <a:p>
            <a:fld id="{932B018B-1127-4875-AEB0-9FBCFB4DB9C2}" type="slidenum">
              <a:rPr sz="4000" b="1">
                <a:solidFill>
                  <a:schemeClr val="tx1"/>
                </a:solidFill>
              </a:rPr>
              <a:t>16</a:t>
            </a:fld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146" name="Szövegdoboz 6"/>
          <p:cNvSpPr/>
          <p:nvPr/>
        </p:nvSpPr>
        <p:spPr>
          <a:xfrm>
            <a:off x="382376" y="1291528"/>
            <a:ext cx="7739640" cy="3045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2000" b="1" dirty="0" smtClean="0"/>
              <a:t>Hűségprogram</a:t>
            </a: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hu-HU" sz="2000" b="1" dirty="0" smtClean="0"/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2000" b="1" dirty="0"/>
              <a:t>Kuponkódok és </a:t>
            </a:r>
            <a:r>
              <a:rPr lang="hu-HU" sz="2000" b="1" dirty="0" smtClean="0"/>
              <a:t>akciók</a:t>
            </a: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hu-HU" b="1" dirty="0" smtClean="0"/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2000" b="1" dirty="0" smtClean="0"/>
              <a:t>Készletfigyelés</a:t>
            </a: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hu-HU" sz="2800" b="1" dirty="0" smtClean="0"/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2000" b="1" dirty="0"/>
              <a:t>Szállítási </a:t>
            </a:r>
            <a:r>
              <a:rPr lang="hu-HU" sz="2000" b="1" dirty="0" smtClean="0"/>
              <a:t>lehetőségek</a:t>
            </a: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hu-HU" sz="2400" b="1" dirty="0" smtClean="0"/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u-HU" sz="2000" b="1" dirty="0"/>
              <a:t>Vélemények és értékelések</a:t>
            </a:r>
            <a:endParaRPr lang="hu-HU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Picture 2" descr="3D, 3D Character, Character, 3D Man, 3d Person, 3D People, Idea, Stock  Illustration - Illustration of create, think: 59976571"/>
          <p:cNvPicPr/>
          <p:nvPr/>
        </p:nvPicPr>
        <p:blipFill>
          <a:blip r:embed="rId3"/>
          <a:stretch/>
        </p:blipFill>
        <p:spPr>
          <a:xfrm>
            <a:off x="4651896" y="4162776"/>
            <a:ext cx="2216564" cy="220285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éria">
  <a:themeElements>
    <a:clrScheme name="Galéria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aléria">
  <a:themeElements>
    <a:clrScheme name="Galéria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aléria">
  <a:themeElements>
    <a:clrScheme name="Galéria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aléria">
  <a:themeElements>
    <a:clrScheme name="Galéria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Galéria">
  <a:themeElements>
    <a:clrScheme name="Galéria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Galéria">
  <a:themeElements>
    <a:clrScheme name="Galéria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Galéria">
  <a:themeElements>
    <a:clrScheme name="Galéria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Galéria">
  <a:themeElements>
    <a:clrScheme name="Galéria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Galéria">
  <a:themeElements>
    <a:clrScheme name="Galéria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Fazetta">
  <a:themeElements>
    <a:clrScheme name="Fazet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zet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1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4222</TotalTime>
  <Words>577</Words>
  <Application>Microsoft Office PowerPoint</Application>
  <PresentationFormat>Diavetítés a képernyőre (4:3 oldalarány)</PresentationFormat>
  <Paragraphs>114</Paragraphs>
  <Slides>16</Slides>
  <Notes>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8</vt:i4>
      </vt:variant>
      <vt:variant>
        <vt:lpstr>Téma</vt:lpstr>
      </vt:variant>
      <vt:variant>
        <vt:i4>10</vt:i4>
      </vt:variant>
      <vt:variant>
        <vt:lpstr>Diacímek</vt:lpstr>
      </vt:variant>
      <vt:variant>
        <vt:i4>16</vt:i4>
      </vt:variant>
    </vt:vector>
  </HeadingPairs>
  <TitlesOfParts>
    <vt:vector size="34" baseType="lpstr">
      <vt:lpstr>Arial</vt:lpstr>
      <vt:lpstr>Calibri</vt:lpstr>
      <vt:lpstr>Gill Sans MT</vt:lpstr>
      <vt:lpstr>Symbol</vt:lpstr>
      <vt:lpstr>Times New Roman</vt:lpstr>
      <vt:lpstr>Trebuchet MS</vt:lpstr>
      <vt:lpstr>Wingdings</vt:lpstr>
      <vt:lpstr>Wingdings 3</vt:lpstr>
      <vt:lpstr>Galéria</vt:lpstr>
      <vt:lpstr>Galéria</vt:lpstr>
      <vt:lpstr>Galéria</vt:lpstr>
      <vt:lpstr>Galéria</vt:lpstr>
      <vt:lpstr>Galéria</vt:lpstr>
      <vt:lpstr>Galéria</vt:lpstr>
      <vt:lpstr>Galéria</vt:lpstr>
      <vt:lpstr>Galéria</vt:lpstr>
      <vt:lpstr>Galéria</vt:lpstr>
      <vt:lpstr>Fazetta</vt:lpstr>
      <vt:lpstr>PowerPoint-bemutató</vt:lpstr>
      <vt:lpstr>Szonda Mercédesz:</vt:lpstr>
      <vt:lpstr>Kósa Nátán:</vt:lpstr>
      <vt:lpstr>Bakó Bence:</vt:lpstr>
      <vt:lpstr>Prezentáció</vt:lpstr>
      <vt:lpstr>Az oldal előnyei:</vt:lpstr>
      <vt:lpstr>Használt alkalmazások:</vt:lpstr>
      <vt:lpstr>A projektmunka kezelőfelülete:</vt:lpstr>
      <vt:lpstr>A projektmunka kezelőfelülete: </vt:lpstr>
      <vt:lpstr>A projektmunka kezelőfelülete: </vt:lpstr>
      <vt:lpstr>A projektmunka kezelőfelülete:</vt:lpstr>
      <vt:lpstr>Weboldal</vt:lpstr>
      <vt:lpstr>Tesztelések:</vt:lpstr>
      <vt:lpstr>Böngészők:</vt:lpstr>
      <vt:lpstr>A csapatmunkához:</vt:lpstr>
      <vt:lpstr>Elképzelt fejlesztések: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Vállalkozási-ügyviteli ügyintéző szakmai vizsga Portfólió</dc:title>
  <dc:subject/>
  <dc:creator>mezes</dc:creator>
  <dc:description/>
  <cp:lastModifiedBy>Szonda Mercédesz</cp:lastModifiedBy>
  <cp:revision>183</cp:revision>
  <dcterms:created xsi:type="dcterms:W3CDTF">2022-02-09T10:17:20Z</dcterms:created>
  <dcterms:modified xsi:type="dcterms:W3CDTF">2025-05-14T10:40:44Z</dcterms:modified>
  <dc:language>hu-HU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Diavetítés a képernyőre (4:3 oldalarány)</vt:lpwstr>
  </property>
  <property fmtid="{D5CDD505-2E9C-101B-9397-08002B2CF9AE}" pid="4" name="Slides">
    <vt:i4>39</vt:i4>
  </property>
</Properties>
</file>